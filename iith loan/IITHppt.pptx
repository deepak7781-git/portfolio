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0" r:id="rId9"/>
    <p:sldId id="266" r:id="rId10"/>
    <p:sldId id="264" r:id="rId11"/>
    <p:sldId id="268" r:id="rId12"/>
    <p:sldId id="267" r:id="rId13"/>
    <p:sldId id="273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7104" y="960936"/>
            <a:ext cx="7577792" cy="1050849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Intelli-Credit</a:t>
            </a:r>
            <a:endParaRPr lang="en-US" dirty="0">
              <a:solidFill>
                <a:schemeClr val="accent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43347" y="3251532"/>
            <a:ext cx="4838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Team Name : </a:t>
            </a:r>
            <a:r>
              <a:rPr lang="en-US" sz="2400" dirty="0" err="1">
                <a:latin typeface="Baskerville Old Face" panose="02020602080505020303" pitchFamily="18" charset="0"/>
              </a:rPr>
              <a:t>ByteForce</a:t>
            </a:r>
            <a:endParaRPr lang="en-US" sz="2400" dirty="0">
              <a:latin typeface="Baskerville Old Face" panose="02020602080505020303" pitchFamily="18" charset="0"/>
            </a:endParaRPr>
          </a:p>
          <a:p>
            <a:pPr algn="ctr"/>
            <a:endParaRPr lang="en-US" sz="2400" dirty="0"/>
          </a:p>
          <a:p>
            <a:pPr algn="ctr"/>
            <a:r>
              <a:rPr lang="en-US" sz="2400" b="1" dirty="0">
                <a:solidFill>
                  <a:schemeClr val="accent2"/>
                </a:solidFill>
              </a:rPr>
              <a:t>Team Members : </a:t>
            </a:r>
            <a:r>
              <a:rPr lang="en-US" sz="2400" dirty="0">
                <a:latin typeface="Baskerville Old Face" panose="02020602080505020303" pitchFamily="18" charset="0"/>
              </a:rPr>
              <a:t>Deepak , Sharan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FE226D-5F62-1EB1-FAF3-302A6492A441}"/>
              </a:ext>
            </a:extLst>
          </p:cNvPr>
          <p:cNvSpPr txBox="1"/>
          <p:nvPr/>
        </p:nvSpPr>
        <p:spPr>
          <a:xfrm>
            <a:off x="3356907" y="2111193"/>
            <a:ext cx="6011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AI Powered Corporate Credit Appraisal Engine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0AF7F4-82F0-86A6-11DA-DF94C034AD3D}"/>
              </a:ext>
            </a:extLst>
          </p:cNvPr>
          <p:cNvSpPr/>
          <p:nvPr/>
        </p:nvSpPr>
        <p:spPr>
          <a:xfrm>
            <a:off x="4288628" y="2790751"/>
            <a:ext cx="4148139" cy="857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964" y="138690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163" y="142945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Baskerville Old Face" panose="02020602080505020303" pitchFamily="18" charset="0"/>
              </a:rPr>
              <a:t>Current Manual Process</a:t>
            </a:r>
          </a:p>
        </p:txBody>
      </p:sp>
      <p:sp>
        <p:nvSpPr>
          <p:cNvPr id="4" name="Oval 3"/>
          <p:cNvSpPr/>
          <p:nvPr/>
        </p:nvSpPr>
        <p:spPr>
          <a:xfrm>
            <a:off x="6096000" y="2066703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1004" y="2136648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Collect Documents</a:t>
            </a:r>
          </a:p>
        </p:txBody>
      </p:sp>
      <p:sp>
        <p:nvSpPr>
          <p:cNvPr id="6" name="Oval 5"/>
          <p:cNvSpPr/>
          <p:nvPr/>
        </p:nvSpPr>
        <p:spPr>
          <a:xfrm>
            <a:off x="6096000" y="2869996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6096000" y="3673289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6096000" y="4471726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04</a:t>
            </a:r>
          </a:p>
        </p:txBody>
      </p:sp>
      <p:sp>
        <p:nvSpPr>
          <p:cNvPr id="9" name="Oval 8"/>
          <p:cNvSpPr/>
          <p:nvPr/>
        </p:nvSpPr>
        <p:spPr>
          <a:xfrm>
            <a:off x="6096000" y="5270163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1005" y="2936320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Manual PDF 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1004" y="3721426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Cross Verify Financials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1004" y="4550020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Research news/Litigation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1004" y="5378223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Write  CAM Memo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58437" y="2149343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1-5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58437" y="2929446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6-10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58437" y="3702580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11-16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58437" y="4543242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17-22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58437" y="5324805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23-31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90850" y="6130013"/>
            <a:ext cx="3515919" cy="48088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Total : 4-5 Weeks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8163" y="2114549"/>
            <a:ext cx="4710113" cy="43513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Graphic 28" descr="Warning with solid 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037" y="2250925"/>
            <a:ext cx="685396" cy="685396"/>
          </a:xfrm>
          <a:prstGeom prst="rect">
            <a:avLst/>
          </a:prstGeom>
        </p:spPr>
      </p:pic>
      <p:pic>
        <p:nvPicPr>
          <p:cNvPr id="31" name="Graphic 30" descr="Newspaper with solid 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861" y="3252642"/>
            <a:ext cx="738028" cy="738028"/>
          </a:xfrm>
          <a:prstGeom prst="rect">
            <a:avLst/>
          </a:prstGeom>
        </p:spPr>
      </p:pic>
      <p:pic>
        <p:nvPicPr>
          <p:cNvPr id="33" name="Graphic 32" descr="Male profile with solid fill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405" y="4340180"/>
            <a:ext cx="738028" cy="738028"/>
          </a:xfrm>
          <a:prstGeom prst="rect">
            <a:avLst/>
          </a:prstGeom>
        </p:spPr>
      </p:pic>
      <p:pic>
        <p:nvPicPr>
          <p:cNvPr id="34" name="Graphic 33" descr="Warning with solid fill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1037" y="5324805"/>
            <a:ext cx="685396" cy="6853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85347" y="2392231"/>
            <a:ext cx="20537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Data Paradox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85347" y="3389795"/>
            <a:ext cx="609361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Fragmented Sources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5347" y="4473076"/>
            <a:ext cx="609361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Human Bias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85347" y="5392676"/>
            <a:ext cx="609361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Missed Early Warnings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15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0262" y="2714626"/>
            <a:ext cx="45719" cy="114300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328612" y="1843088"/>
            <a:ext cx="3543300" cy="37814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/>
          <p:cNvSpPr/>
          <p:nvPr/>
        </p:nvSpPr>
        <p:spPr>
          <a:xfrm>
            <a:off x="4324350" y="1814512"/>
            <a:ext cx="3543300" cy="37814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/>
          <p:cNvSpPr/>
          <p:nvPr/>
        </p:nvSpPr>
        <p:spPr>
          <a:xfrm>
            <a:off x="8320090" y="1857375"/>
            <a:ext cx="3543300" cy="37814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Database with solid 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99" y="2071688"/>
            <a:ext cx="757238" cy="757238"/>
          </a:xfrm>
          <a:prstGeom prst="rect">
            <a:avLst/>
          </a:prstGeom>
        </p:spPr>
      </p:pic>
      <p:pic>
        <p:nvPicPr>
          <p:cNvPr id="11" name="Graphic 10" descr="Magnifying glass with solid 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3424" y="2057401"/>
            <a:ext cx="657225" cy="657225"/>
          </a:xfrm>
          <a:prstGeom prst="rect">
            <a:avLst/>
          </a:prstGeom>
        </p:spPr>
      </p:pic>
      <p:pic>
        <p:nvPicPr>
          <p:cNvPr id="12" name="Content Placeholder 12" descr="Newspaper with solid fill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21078" y="1958177"/>
            <a:ext cx="827887" cy="8278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1580" y="3038744"/>
            <a:ext cx="18373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Baskerville Old Face" panose="02020602080505020303" pitchFamily="18" charset="0"/>
              </a:rPr>
              <a:t>Data</a:t>
            </a:r>
          </a:p>
          <a:p>
            <a:pPr algn="ctr"/>
            <a:r>
              <a:rPr lang="en-US" sz="4000" dirty="0" err="1">
                <a:latin typeface="Baskerville Old Face" panose="02020602080505020303" pitchFamily="18" charset="0"/>
              </a:rPr>
              <a:t>Ingestor</a:t>
            </a:r>
            <a:endParaRPr lang="en-US" sz="4000" dirty="0">
              <a:latin typeface="Baskerville Old Face" panose="02020602080505020303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62765" y="2991388"/>
            <a:ext cx="22664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Baskerville Old Face" panose="02020602080505020303" pitchFamily="18" charset="0"/>
              </a:rPr>
              <a:t>Research</a:t>
            </a:r>
          </a:p>
          <a:p>
            <a:pPr algn="ctr"/>
            <a:r>
              <a:rPr lang="en-US" sz="4000" dirty="0">
                <a:latin typeface="Baskerville Old Face" panose="02020602080505020303" pitchFamily="18" charset="0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7557" y="3086367"/>
            <a:ext cx="406836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700" dirty="0">
                <a:latin typeface="Baskerville Old Face" panose="02020602080505020303" pitchFamily="18" charset="0"/>
              </a:rPr>
              <a:t>Recommendation</a:t>
            </a:r>
          </a:p>
          <a:p>
            <a:pPr algn="ctr"/>
            <a:r>
              <a:rPr lang="en-US" sz="3700" dirty="0">
                <a:latin typeface="Baskerville Old Face" panose="02020602080505020303" pitchFamily="18" charset="0"/>
              </a:rPr>
              <a:t>Engine</a:t>
            </a:r>
          </a:p>
        </p:txBody>
      </p:sp>
      <p:sp>
        <p:nvSpPr>
          <p:cNvPr id="22" name="Arrow: Right 21"/>
          <p:cNvSpPr/>
          <p:nvPr/>
        </p:nvSpPr>
        <p:spPr>
          <a:xfrm>
            <a:off x="3871912" y="3429000"/>
            <a:ext cx="452438" cy="42862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Arrow: Right 22"/>
          <p:cNvSpPr/>
          <p:nvPr/>
        </p:nvSpPr>
        <p:spPr>
          <a:xfrm>
            <a:off x="7867650" y="3428999"/>
            <a:ext cx="452438" cy="42862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39373-4F56-0D62-75EA-05D55106BA64}"/>
              </a:ext>
            </a:extLst>
          </p:cNvPr>
          <p:cNvSpPr txBox="1"/>
          <p:nvPr/>
        </p:nvSpPr>
        <p:spPr>
          <a:xfrm>
            <a:off x="1214437" y="5884460"/>
            <a:ext cx="1032846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Baskerville Old Face" panose="02020602080505020303" pitchFamily="18" charset="0"/>
              </a:rPr>
              <a:t>Input Data -&gt; </a:t>
            </a:r>
            <a:r>
              <a:rPr lang="en-US" sz="2500" dirty="0" err="1">
                <a:latin typeface="Baskerville Old Face" panose="02020602080505020303" pitchFamily="18" charset="0"/>
              </a:rPr>
              <a:t>Ingestor</a:t>
            </a:r>
            <a:r>
              <a:rPr lang="en-US" sz="2500" dirty="0">
                <a:latin typeface="Baskerville Old Face" panose="02020602080505020303" pitchFamily="18" charset="0"/>
              </a:rPr>
              <a:t> -&gt; Research Agent -&gt; Scoring Models -&gt; CAM Document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25" y="137160"/>
            <a:ext cx="10515600" cy="1325563"/>
          </a:xfrm>
        </p:spPr>
        <p:txBody>
          <a:bodyPr/>
          <a:lstStyle/>
          <a:p>
            <a:r>
              <a:rPr lang="en-US" sz="6000" dirty="0">
                <a:latin typeface="Baskerville Old Face" panose="02020602080505020303" pitchFamily="18" charset="0"/>
                <a:cs typeface="Baskerville Old Face" panose="02020602080505020303" pitchFamily="18" charset="0"/>
              </a:rPr>
              <a:t>Data </a:t>
            </a:r>
            <a:r>
              <a:rPr lang="en-US" sz="6000" dirty="0" err="1">
                <a:latin typeface="Baskerville Old Face" panose="02020602080505020303" pitchFamily="18" charset="0"/>
                <a:cs typeface="Baskerville Old Face" panose="02020602080505020303" pitchFamily="18" charset="0"/>
              </a:rPr>
              <a:t>Ingestor</a:t>
            </a:r>
            <a:endParaRPr lang="en-US" sz="6000" dirty="0">
              <a:latin typeface="Baskerville Old Face" panose="02020602080505020303" pitchFamily="18" charset="0"/>
              <a:cs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463040"/>
            <a:ext cx="10702925" cy="47828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Unstructured Document Parsing</a:t>
            </a:r>
          </a:p>
          <a:p>
            <a:r>
              <a:rPr lang="en-US" altLang="en-US" sz="2000" dirty="0"/>
              <a:t>OCR on scanned Indian PDFs (annual reports, legal notices, sanction letters)</a:t>
            </a:r>
          </a:p>
          <a:p>
            <a:r>
              <a:rPr lang="en-US" altLang="en-US" sz="2000" dirty="0"/>
              <a:t>Extracts financial commitments, risk clauses, and covenant terms</a:t>
            </a:r>
          </a:p>
          <a:p>
            <a:r>
              <a:rPr lang="en-US" altLang="en-US" sz="2000" dirty="0"/>
              <a:t>Handles multi-language text (Hindi + English mixed)</a:t>
            </a:r>
          </a:p>
          <a:p>
            <a:r>
              <a:rPr lang="en-US" altLang="en-US" sz="2000" dirty="0"/>
              <a:t>Databricks style Pipeline</a:t>
            </a:r>
          </a:p>
          <a:p>
            <a:endParaRPr lang="en-US" altLang="en-US" sz="2000" dirty="0"/>
          </a:p>
          <a:p>
            <a:pPr marL="0" indent="0">
              <a:buNone/>
            </a:pPr>
            <a:r>
              <a:rPr lang="en-US" altLang="en-US" b="1" dirty="0"/>
              <a:t>GST vs Bank Statement Cross-Check</a:t>
            </a:r>
          </a:p>
          <a:p>
            <a:r>
              <a:rPr lang="en-US" altLang="en-US" sz="2000" dirty="0"/>
              <a:t>Auto-reconciles GSTR-3B declared revenue against bank credit</a:t>
            </a:r>
          </a:p>
          <a:p>
            <a:r>
              <a:rPr lang="en-US" altLang="en-US" sz="2000" dirty="0"/>
              <a:t>Flags circular trading patterns and revenue inflation</a:t>
            </a:r>
          </a:p>
          <a:p>
            <a:r>
              <a:rPr lang="en-US" altLang="en-US" sz="2000" dirty="0"/>
              <a:t>Detects cash deposit followed by advance payment cycles</a:t>
            </a:r>
          </a:p>
          <a:p>
            <a:pPr marL="0" indent="0">
              <a:buNone/>
            </a:pPr>
            <a:endParaRPr lang="en-US" altLang="en-US" b="1" dirty="0"/>
          </a:p>
          <a:p>
            <a:pPr marL="0" indent="0">
              <a:buNone/>
            </a:pPr>
            <a:endParaRPr lang="en-US" altLang="en-US" b="1" dirty="0"/>
          </a:p>
        </p:txBody>
      </p:sp>
      <p:sp>
        <p:nvSpPr>
          <p:cNvPr id="4" name="Text Box 3"/>
          <p:cNvSpPr txBox="1"/>
          <p:nvPr/>
        </p:nvSpPr>
        <p:spPr>
          <a:xfrm>
            <a:off x="4409440" y="10947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695" y="16446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Research Agent</a:t>
            </a:r>
            <a:br>
              <a:rPr lang="en-US" dirty="0"/>
            </a:br>
            <a:r>
              <a:rPr lang="en-US" altLang="en-US" sz="2000" dirty="0"/>
              <a:t>The Digital Credit Manager — Automated Secondary Research + Primary Insight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1655" y="1490028"/>
            <a:ext cx="4838700" cy="512508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6811645" y="1565910"/>
            <a:ext cx="4838700" cy="5125085"/>
          </a:xfrm>
          <a:prstGeom prst="roundRect">
            <a:avLst/>
          </a:prstGeom>
          <a:solidFill>
            <a:schemeClr val="bg2"/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7104380" y="1890395"/>
            <a:ext cx="4205605" cy="4486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/>
              <a:t>Primary Insight Portal</a:t>
            </a:r>
          </a:p>
          <a:p>
            <a:pPr algn="ctr"/>
            <a:endParaRPr lang="en-US" sz="24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Credit officer inputs qualitative notes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"Factory at 40% capacity" → adjusts score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Management interview observations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Site visit findings integrated into risk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AI explains how inputs shift final verdict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1007745" y="1890395"/>
            <a:ext cx="3966845" cy="4530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/>
              <a:t>Secondary Research</a:t>
            </a:r>
          </a:p>
          <a:p>
            <a:pPr algn="ctr"/>
            <a:endParaRPr lang="en-US" sz="24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Promoter background &amp; litigation history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Sector headwinds (e.g., new RBI/NBFC rules)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MCA filing status &amp; director changes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e-Courts portal legal dispute scraping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News sentiment analysis (last 3 years)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13" y="-15229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Recommendation Engine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BA320-567D-91CC-1E7F-C754D2BF27A1}"/>
              </a:ext>
            </a:extLst>
          </p:cNvPr>
          <p:cNvSpPr txBox="1"/>
          <p:nvPr/>
        </p:nvSpPr>
        <p:spPr>
          <a:xfrm>
            <a:off x="138113" y="882863"/>
            <a:ext cx="257153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The Five C’s of Credit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992B15-3C12-E645-FC7D-13D21D99716C}"/>
              </a:ext>
            </a:extLst>
          </p:cNvPr>
          <p:cNvSpPr/>
          <p:nvPr/>
        </p:nvSpPr>
        <p:spPr>
          <a:xfrm>
            <a:off x="138113" y="1443037"/>
            <a:ext cx="5957887" cy="76538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B4C98A-B702-8F87-DE67-37955C1EF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570" y="1517175"/>
            <a:ext cx="5715000" cy="4757738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6EC2FB-C918-B963-6CCD-365DB3AD5A98}"/>
              </a:ext>
            </a:extLst>
          </p:cNvPr>
          <p:cNvSpPr/>
          <p:nvPr/>
        </p:nvSpPr>
        <p:spPr>
          <a:xfrm>
            <a:off x="138112" y="2478194"/>
            <a:ext cx="5957887" cy="76538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6CC423-7585-E4C7-380C-176FB634F3B0}"/>
              </a:ext>
            </a:extLst>
          </p:cNvPr>
          <p:cNvSpPr/>
          <p:nvPr/>
        </p:nvSpPr>
        <p:spPr>
          <a:xfrm>
            <a:off x="138112" y="3513351"/>
            <a:ext cx="5957887" cy="76538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FE3E515-67FA-E3C9-7F68-3B24A4F0D01F}"/>
              </a:ext>
            </a:extLst>
          </p:cNvPr>
          <p:cNvSpPr/>
          <p:nvPr/>
        </p:nvSpPr>
        <p:spPr>
          <a:xfrm>
            <a:off x="138111" y="4548508"/>
            <a:ext cx="5957887" cy="76538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751875-CF68-0A44-52FE-EABF3A4D5F22}"/>
              </a:ext>
            </a:extLst>
          </p:cNvPr>
          <p:cNvSpPr/>
          <p:nvPr/>
        </p:nvSpPr>
        <p:spPr>
          <a:xfrm>
            <a:off x="138110" y="5583665"/>
            <a:ext cx="5957887" cy="76538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A23F5A-18B2-44B8-F222-2122CBCD3917}"/>
              </a:ext>
            </a:extLst>
          </p:cNvPr>
          <p:cNvSpPr/>
          <p:nvPr/>
        </p:nvSpPr>
        <p:spPr>
          <a:xfrm>
            <a:off x="121439" y="1443037"/>
            <a:ext cx="176215" cy="7653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82BF354-E527-546B-BA64-4E69D57FF54C}"/>
              </a:ext>
            </a:extLst>
          </p:cNvPr>
          <p:cNvSpPr/>
          <p:nvPr/>
        </p:nvSpPr>
        <p:spPr>
          <a:xfrm>
            <a:off x="138110" y="2478194"/>
            <a:ext cx="176215" cy="7653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8D22F9-9A82-1D80-5F07-AD0BF9E08AD3}"/>
              </a:ext>
            </a:extLst>
          </p:cNvPr>
          <p:cNvSpPr/>
          <p:nvPr/>
        </p:nvSpPr>
        <p:spPr>
          <a:xfrm>
            <a:off x="138110" y="3513350"/>
            <a:ext cx="176215" cy="7653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E06F400-C47D-AF5C-0F22-649D79BE899C}"/>
              </a:ext>
            </a:extLst>
          </p:cNvPr>
          <p:cNvSpPr/>
          <p:nvPr/>
        </p:nvSpPr>
        <p:spPr>
          <a:xfrm>
            <a:off x="138110" y="4548506"/>
            <a:ext cx="176215" cy="7653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5A678D-8D5A-FF47-76D3-192C51A04E4B}"/>
              </a:ext>
            </a:extLst>
          </p:cNvPr>
          <p:cNvSpPr/>
          <p:nvPr/>
        </p:nvSpPr>
        <p:spPr>
          <a:xfrm>
            <a:off x="138110" y="5583661"/>
            <a:ext cx="176215" cy="7653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444DC2-0C7A-EA24-9524-4ADD8CB58130}"/>
              </a:ext>
            </a:extLst>
          </p:cNvPr>
          <p:cNvSpPr txBox="1"/>
          <p:nvPr/>
        </p:nvSpPr>
        <p:spPr>
          <a:xfrm>
            <a:off x="297654" y="1424520"/>
            <a:ext cx="122661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Character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F6944E-E9B4-D262-ABD8-E3774630B964}"/>
              </a:ext>
            </a:extLst>
          </p:cNvPr>
          <p:cNvSpPr txBox="1"/>
          <p:nvPr/>
        </p:nvSpPr>
        <p:spPr>
          <a:xfrm>
            <a:off x="297654" y="2429995"/>
            <a:ext cx="615076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Capacity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1DAA43-7F9B-08DC-55CD-81C539C3C184}"/>
              </a:ext>
            </a:extLst>
          </p:cNvPr>
          <p:cNvSpPr txBox="1"/>
          <p:nvPr/>
        </p:nvSpPr>
        <p:spPr>
          <a:xfrm>
            <a:off x="291703" y="3465152"/>
            <a:ext cx="615076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Capital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3063EA-FB66-A698-4F23-012D387DF7D2}"/>
              </a:ext>
            </a:extLst>
          </p:cNvPr>
          <p:cNvSpPr txBox="1"/>
          <p:nvPr/>
        </p:nvSpPr>
        <p:spPr>
          <a:xfrm>
            <a:off x="246459" y="4500309"/>
            <a:ext cx="615076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Collateral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222FE5-8974-9C31-B6A0-E6E86EE13163}"/>
              </a:ext>
            </a:extLst>
          </p:cNvPr>
          <p:cNvSpPr txBox="1"/>
          <p:nvPr/>
        </p:nvSpPr>
        <p:spPr>
          <a:xfrm>
            <a:off x="255985" y="5559639"/>
            <a:ext cx="615076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Conditions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92AFEE-1B09-B54A-034F-4AD8A3B80EB2}"/>
              </a:ext>
            </a:extLst>
          </p:cNvPr>
          <p:cNvSpPr txBox="1"/>
          <p:nvPr/>
        </p:nvSpPr>
        <p:spPr>
          <a:xfrm>
            <a:off x="291703" y="1809086"/>
            <a:ext cx="615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Promoter track record, litigation, CIBIL history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98F88E-AA6D-CDDA-4F69-C78506105C1E}"/>
              </a:ext>
            </a:extLst>
          </p:cNvPr>
          <p:cNvSpPr txBox="1"/>
          <p:nvPr/>
        </p:nvSpPr>
        <p:spPr>
          <a:xfrm>
            <a:off x="314325" y="2807948"/>
            <a:ext cx="615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Revenue, EBITDA margins, debt service coverage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AD4290-C9BF-8A69-A3A4-A9C7A67BD336}"/>
              </a:ext>
            </a:extLst>
          </p:cNvPr>
          <p:cNvSpPr txBox="1"/>
          <p:nvPr/>
        </p:nvSpPr>
        <p:spPr>
          <a:xfrm>
            <a:off x="291703" y="3794100"/>
            <a:ext cx="615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Net worth, leverage ratios, equity contribution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6A306D-ADBD-DC20-0691-2CCE21FE128C}"/>
              </a:ext>
            </a:extLst>
          </p:cNvPr>
          <p:cNvSpPr txBox="1"/>
          <p:nvPr/>
        </p:nvSpPr>
        <p:spPr>
          <a:xfrm>
            <a:off x="291703" y="4780481"/>
            <a:ext cx="615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Security value, charge creation, coverage ratio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7E03FA-157B-925D-F9D2-9CEC9778DF87}"/>
              </a:ext>
            </a:extLst>
          </p:cNvPr>
          <p:cNvSpPr txBox="1"/>
          <p:nvPr/>
        </p:nvSpPr>
        <p:spPr>
          <a:xfrm>
            <a:off x="255985" y="5837155"/>
            <a:ext cx="615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Sector outlook, RBI norms, market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CBF2-23DA-09BF-153D-D7B7265F7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183936"/>
            <a:ext cx="6786564" cy="1325563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56E09-9806-D1E1-AEF7-7D9FA7A11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0255" y="3671887"/>
            <a:ext cx="45719" cy="57150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AD3653-D7FE-397F-20DF-FB8DD8977012}"/>
              </a:ext>
            </a:extLst>
          </p:cNvPr>
          <p:cNvSpPr/>
          <p:nvPr/>
        </p:nvSpPr>
        <p:spPr>
          <a:xfrm>
            <a:off x="371474" y="1885950"/>
            <a:ext cx="2971800" cy="4500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00C93C-9B18-5981-4250-7A1DD6E181DD}"/>
              </a:ext>
            </a:extLst>
          </p:cNvPr>
          <p:cNvSpPr/>
          <p:nvPr/>
        </p:nvSpPr>
        <p:spPr>
          <a:xfrm>
            <a:off x="3750944" y="1885950"/>
            <a:ext cx="4856798" cy="45005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4FC4A-021C-13DF-DF9F-11AFDF376C7B}"/>
              </a:ext>
            </a:extLst>
          </p:cNvPr>
          <p:cNvSpPr/>
          <p:nvPr/>
        </p:nvSpPr>
        <p:spPr>
          <a:xfrm>
            <a:off x="9015412" y="1885950"/>
            <a:ext cx="2971800" cy="450056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7819B-CE11-30A0-B1EC-75FEB8E987F4}"/>
              </a:ext>
            </a:extLst>
          </p:cNvPr>
          <p:cNvSpPr txBox="1"/>
          <p:nvPr/>
        </p:nvSpPr>
        <p:spPr>
          <a:xfrm>
            <a:off x="1057315" y="2043113"/>
            <a:ext cx="160011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latin typeface="Baskerville Old Face" panose="02020602080505020303" pitchFamily="18" charset="0"/>
              </a:rPr>
              <a:t>Data 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E7533-FB4A-726A-758B-2D35F793A078}"/>
              </a:ext>
            </a:extLst>
          </p:cNvPr>
          <p:cNvSpPr txBox="1"/>
          <p:nvPr/>
        </p:nvSpPr>
        <p:spPr>
          <a:xfrm>
            <a:off x="5114925" y="2043113"/>
            <a:ext cx="233429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latin typeface="Baskerville Old Face" panose="02020602080505020303" pitchFamily="18" charset="0"/>
              </a:rPr>
              <a:t>AI Processing Layer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BAEC1C-4E8B-5B99-8E64-F213E697C47A}"/>
              </a:ext>
            </a:extLst>
          </p:cNvPr>
          <p:cNvSpPr txBox="1"/>
          <p:nvPr/>
        </p:nvSpPr>
        <p:spPr>
          <a:xfrm>
            <a:off x="10018647" y="2043113"/>
            <a:ext cx="9653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latin typeface="Baskerville Old Face" panose="02020602080505020303" pitchFamily="18" charset="0"/>
              </a:rPr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1CB204-9584-6D97-9EC6-312E5FB454AE}"/>
              </a:ext>
            </a:extLst>
          </p:cNvPr>
          <p:cNvSpPr txBox="1"/>
          <p:nvPr/>
        </p:nvSpPr>
        <p:spPr>
          <a:xfrm>
            <a:off x="386742" y="2458611"/>
            <a:ext cx="2327881" cy="3882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GST Returns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Bank Statements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ITR/MCA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Annual Reports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Legal Notices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News/Web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060F85-71AB-CCB8-8311-B2A1DB3D4735}"/>
              </a:ext>
            </a:extLst>
          </p:cNvPr>
          <p:cNvSpPr txBox="1"/>
          <p:nvPr/>
        </p:nvSpPr>
        <p:spPr>
          <a:xfrm>
            <a:off x="3840414" y="2504295"/>
            <a:ext cx="4511171" cy="3882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OCR + PDF Parser(Tesseract/Azure)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Databricks Delta Lake(Data Score)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LLM Analysis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 err="1">
                <a:latin typeface="Baskerville Old Face" panose="02020602080505020303" pitchFamily="18" charset="0"/>
              </a:rPr>
              <a:t>LangChain</a:t>
            </a:r>
            <a:r>
              <a:rPr lang="en-US" sz="2100" dirty="0">
                <a:latin typeface="Baskerville Old Face" panose="02020602080505020303" pitchFamily="18" charset="0"/>
              </a:rPr>
              <a:t> in Agent(Research)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ML Scoring Model(Risk Score)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RAG Pipeline(Context Retrieval)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E06826-EDF3-7F83-FF6A-5759465126DA}"/>
              </a:ext>
            </a:extLst>
          </p:cNvPr>
          <p:cNvSpPr txBox="1"/>
          <p:nvPr/>
        </p:nvSpPr>
        <p:spPr>
          <a:xfrm>
            <a:off x="9015412" y="2481453"/>
            <a:ext cx="2539478" cy="3882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CAM(Word/PDF)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Risk Score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Loan Amount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 Interest Rate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Rejection Reason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Audit Trail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4BCEF9D-3997-BD61-4493-E5263969C567}"/>
              </a:ext>
            </a:extLst>
          </p:cNvPr>
          <p:cNvSpPr/>
          <p:nvPr/>
        </p:nvSpPr>
        <p:spPr>
          <a:xfrm>
            <a:off x="3343274" y="3973916"/>
            <a:ext cx="407670" cy="47148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DB69F90-5CB4-8328-647E-AEF09F9258DD}"/>
              </a:ext>
            </a:extLst>
          </p:cNvPr>
          <p:cNvSpPr/>
          <p:nvPr/>
        </p:nvSpPr>
        <p:spPr>
          <a:xfrm>
            <a:off x="8607742" y="3973916"/>
            <a:ext cx="407670" cy="47148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94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E9C2-8CC7-3260-2AB5-21F839325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13" y="96768"/>
            <a:ext cx="5370601" cy="853117"/>
          </a:xfrm>
        </p:spPr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Architecture Diagram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964E4-173B-3100-39F4-2B5991A8E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4852" y="2396330"/>
            <a:ext cx="294861" cy="169001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BE40C2-A9B2-D9ED-19F0-D2ABF79E3B12}"/>
              </a:ext>
            </a:extLst>
          </p:cNvPr>
          <p:cNvSpPr/>
          <p:nvPr/>
        </p:nvSpPr>
        <p:spPr>
          <a:xfrm>
            <a:off x="231913" y="923987"/>
            <a:ext cx="11572461" cy="559835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3AF191-2A27-94E2-B011-47F50C5EA12E}"/>
              </a:ext>
            </a:extLst>
          </p:cNvPr>
          <p:cNvSpPr/>
          <p:nvPr/>
        </p:nvSpPr>
        <p:spPr>
          <a:xfrm>
            <a:off x="4800600" y="1124157"/>
            <a:ext cx="1838739" cy="44726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9FAD99-5B46-133C-1FB3-C849713905A9}"/>
              </a:ext>
            </a:extLst>
          </p:cNvPr>
          <p:cNvCxnSpPr/>
          <p:nvPr/>
        </p:nvCxnSpPr>
        <p:spPr>
          <a:xfrm>
            <a:off x="5719965" y="1571418"/>
            <a:ext cx="0" cy="268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0D99796-435A-9F43-E555-C219200ACFDA}"/>
              </a:ext>
            </a:extLst>
          </p:cNvPr>
          <p:cNvSpPr/>
          <p:nvPr/>
        </p:nvSpPr>
        <p:spPr>
          <a:xfrm>
            <a:off x="4800600" y="1850212"/>
            <a:ext cx="1838739" cy="5575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Frontend Layer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34384A-92FE-874E-3E26-EF95235BFB48}"/>
              </a:ext>
            </a:extLst>
          </p:cNvPr>
          <p:cNvCxnSpPr/>
          <p:nvPr/>
        </p:nvCxnSpPr>
        <p:spPr>
          <a:xfrm>
            <a:off x="5719965" y="2396330"/>
            <a:ext cx="0" cy="267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1AF26B9-1056-19E6-3B38-D5181C468029}"/>
              </a:ext>
            </a:extLst>
          </p:cNvPr>
          <p:cNvSpPr/>
          <p:nvPr/>
        </p:nvSpPr>
        <p:spPr>
          <a:xfrm>
            <a:off x="4800600" y="2663649"/>
            <a:ext cx="1838730" cy="4880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API Layer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63199A-A386-7D0C-FCC3-440F88E8FD3E}"/>
              </a:ext>
            </a:extLst>
          </p:cNvPr>
          <p:cNvSpPr/>
          <p:nvPr/>
        </p:nvSpPr>
        <p:spPr>
          <a:xfrm>
            <a:off x="4800600" y="3479656"/>
            <a:ext cx="1838730" cy="4870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Processing Layer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C89274-E648-2502-48CA-EBC7CFAAFC35}"/>
              </a:ext>
            </a:extLst>
          </p:cNvPr>
          <p:cNvSpPr/>
          <p:nvPr/>
        </p:nvSpPr>
        <p:spPr>
          <a:xfrm>
            <a:off x="4800600" y="4214191"/>
            <a:ext cx="1838730" cy="3975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AI Layer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DB21D1-7EF0-F849-955B-AA824F637832}"/>
              </a:ext>
            </a:extLst>
          </p:cNvPr>
          <p:cNvSpPr/>
          <p:nvPr/>
        </p:nvSpPr>
        <p:spPr>
          <a:xfrm>
            <a:off x="4800600" y="4919870"/>
            <a:ext cx="1838730" cy="3677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90F877-A8A3-A8AD-D1DF-ECC51287BF43}"/>
              </a:ext>
            </a:extLst>
          </p:cNvPr>
          <p:cNvSpPr/>
          <p:nvPr/>
        </p:nvSpPr>
        <p:spPr>
          <a:xfrm>
            <a:off x="4789000" y="5663993"/>
            <a:ext cx="1838730" cy="3677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Output Layer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5673F7-A3C8-CA2C-0BBC-2ECD98BF9763}"/>
              </a:ext>
            </a:extLst>
          </p:cNvPr>
          <p:cNvCxnSpPr>
            <a:stCxn id="11" idx="2"/>
          </p:cNvCxnSpPr>
          <p:nvPr/>
        </p:nvCxnSpPr>
        <p:spPr>
          <a:xfrm>
            <a:off x="5719965" y="3151665"/>
            <a:ext cx="0" cy="277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E905FE-0FE5-9D52-2E58-37159D86092E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5719965" y="3966673"/>
            <a:ext cx="0" cy="247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5BDEE0-89DA-57D3-EB15-F999E928D29E}"/>
              </a:ext>
            </a:extLst>
          </p:cNvPr>
          <p:cNvCxnSpPr/>
          <p:nvPr/>
        </p:nvCxnSpPr>
        <p:spPr>
          <a:xfrm>
            <a:off x="5708365" y="4611757"/>
            <a:ext cx="0" cy="268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661163-E3AC-E245-99FB-256B8E08847B}"/>
              </a:ext>
            </a:extLst>
          </p:cNvPr>
          <p:cNvCxnSpPr>
            <a:cxnSpLocks/>
          </p:cNvCxnSpPr>
          <p:nvPr/>
        </p:nvCxnSpPr>
        <p:spPr>
          <a:xfrm>
            <a:off x="5716643" y="5287617"/>
            <a:ext cx="3322" cy="376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12ACE1-D013-C545-4001-A597DC35ACE0}"/>
              </a:ext>
            </a:extLst>
          </p:cNvPr>
          <p:cNvCxnSpPr/>
          <p:nvPr/>
        </p:nvCxnSpPr>
        <p:spPr>
          <a:xfrm>
            <a:off x="6639330" y="3737113"/>
            <a:ext cx="7056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FF58928-25D3-5A6D-67CB-59CF270A12CE}"/>
              </a:ext>
            </a:extLst>
          </p:cNvPr>
          <p:cNvSpPr/>
          <p:nvPr/>
        </p:nvSpPr>
        <p:spPr>
          <a:xfrm>
            <a:off x="7359911" y="3428997"/>
            <a:ext cx="1913299" cy="741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OCR 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Document </a:t>
            </a:r>
            <a:r>
              <a:rPr lang="fr-FR" sz="1400" dirty="0" err="1">
                <a:solidFill>
                  <a:schemeClr val="tx1"/>
                </a:solidFill>
              </a:rPr>
              <a:t>Parser</a:t>
            </a:r>
            <a:endParaRPr lang="fr-FR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>
                <a:solidFill>
                  <a:schemeClr val="tx1"/>
                </a:solidFill>
              </a:rPr>
              <a:t>Feature</a:t>
            </a:r>
            <a:r>
              <a:rPr lang="fr-FR" sz="1400" dirty="0">
                <a:solidFill>
                  <a:schemeClr val="tx1"/>
                </a:solidFill>
              </a:rPr>
              <a:t> Extraction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49B990-1F74-78C0-21A3-1DC31ED1A611}"/>
              </a:ext>
            </a:extLst>
          </p:cNvPr>
          <p:cNvSpPr/>
          <p:nvPr/>
        </p:nvSpPr>
        <p:spPr>
          <a:xfrm>
            <a:off x="2204006" y="4004510"/>
            <a:ext cx="1913298" cy="10147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LLM Research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Credit Risk ML Model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D311BC-815E-8536-7363-F3888B874615}"/>
              </a:ext>
            </a:extLst>
          </p:cNvPr>
          <p:cNvSpPr/>
          <p:nvPr/>
        </p:nvSpPr>
        <p:spPr>
          <a:xfrm>
            <a:off x="2181611" y="5486755"/>
            <a:ext cx="1913299" cy="741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CAM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 Dashboard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9A31FB-BB39-3D5A-A850-11CA42F2CF21}"/>
              </a:ext>
            </a:extLst>
          </p:cNvPr>
          <p:cNvSpPr/>
          <p:nvPr/>
        </p:nvSpPr>
        <p:spPr>
          <a:xfrm>
            <a:off x="7359911" y="4722130"/>
            <a:ext cx="1913299" cy="741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PostgreSQL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Document Storage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948F86F-8043-BF15-8CD8-0815A403F21A}"/>
              </a:ext>
            </a:extLst>
          </p:cNvPr>
          <p:cNvCxnSpPr>
            <a:stCxn id="13" idx="1"/>
          </p:cNvCxnSpPr>
          <p:nvPr/>
        </p:nvCxnSpPr>
        <p:spPr>
          <a:xfrm flipH="1">
            <a:off x="4117304" y="4412974"/>
            <a:ext cx="683296" cy="9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6A5B8F-EE70-3DE9-DAFD-AAEBDBEFFE1D}"/>
              </a:ext>
            </a:extLst>
          </p:cNvPr>
          <p:cNvCxnSpPr>
            <a:stCxn id="14" idx="3"/>
            <a:endCxn id="29" idx="1"/>
          </p:cNvCxnSpPr>
          <p:nvPr/>
        </p:nvCxnSpPr>
        <p:spPr>
          <a:xfrm flipV="1">
            <a:off x="6639330" y="5092843"/>
            <a:ext cx="720581" cy="10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FFCBF20-CDD8-454E-D691-D1D26A156C23}"/>
              </a:ext>
            </a:extLst>
          </p:cNvPr>
          <p:cNvCxnSpPr>
            <a:stCxn id="15" idx="1"/>
            <a:endCxn id="28" idx="3"/>
          </p:cNvCxnSpPr>
          <p:nvPr/>
        </p:nvCxnSpPr>
        <p:spPr>
          <a:xfrm flipH="1">
            <a:off x="4094910" y="5847867"/>
            <a:ext cx="694090" cy="9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147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FBB0-D678-E2CA-2BC8-D74FC2F83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1" y="18256"/>
            <a:ext cx="3976894" cy="880928"/>
          </a:xfrm>
        </p:spPr>
        <p:txBody>
          <a:bodyPr>
            <a:noAutofit/>
          </a:bodyPr>
          <a:lstStyle/>
          <a:p>
            <a:r>
              <a:rPr lang="en-US" sz="55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Tech Stack</a:t>
            </a:r>
            <a:endParaRPr lang="en-IN" sz="5500" dirty="0">
              <a:solidFill>
                <a:schemeClr val="accent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08C63-F1B5-2A98-7893-DA32C8662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966" y="2136913"/>
            <a:ext cx="553278" cy="178904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2A8169-97AD-F8C4-FFC7-34D8B81F94DC}"/>
              </a:ext>
            </a:extLst>
          </p:cNvPr>
          <p:cNvSpPr/>
          <p:nvPr/>
        </p:nvSpPr>
        <p:spPr>
          <a:xfrm>
            <a:off x="435663" y="1137635"/>
            <a:ext cx="2156791" cy="55559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E3500F-F122-648F-9E45-4182FAA4CCA8}"/>
              </a:ext>
            </a:extLst>
          </p:cNvPr>
          <p:cNvSpPr/>
          <p:nvPr/>
        </p:nvSpPr>
        <p:spPr>
          <a:xfrm>
            <a:off x="2771361" y="1123121"/>
            <a:ext cx="2156791" cy="55559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BC4840-43CC-E2FE-B3BA-8CCF0F4CCD16}"/>
              </a:ext>
            </a:extLst>
          </p:cNvPr>
          <p:cNvSpPr/>
          <p:nvPr/>
        </p:nvSpPr>
        <p:spPr>
          <a:xfrm>
            <a:off x="5107059" y="1123121"/>
            <a:ext cx="2156791" cy="55559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477B73-51CC-EC40-95BF-80D5D7CAA345}"/>
              </a:ext>
            </a:extLst>
          </p:cNvPr>
          <p:cNvSpPr/>
          <p:nvPr/>
        </p:nvSpPr>
        <p:spPr>
          <a:xfrm>
            <a:off x="7495763" y="1123121"/>
            <a:ext cx="2156791" cy="55559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FE60CE-FA89-EF72-9B78-7366F4C4C783}"/>
              </a:ext>
            </a:extLst>
          </p:cNvPr>
          <p:cNvSpPr/>
          <p:nvPr/>
        </p:nvSpPr>
        <p:spPr>
          <a:xfrm>
            <a:off x="9884467" y="1123121"/>
            <a:ext cx="2156791" cy="55559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6873F5-6AC3-1804-58B8-63FD2834D2BB}"/>
              </a:ext>
            </a:extLst>
          </p:cNvPr>
          <p:cNvSpPr txBox="1"/>
          <p:nvPr/>
        </p:nvSpPr>
        <p:spPr>
          <a:xfrm>
            <a:off x="888566" y="1159152"/>
            <a:ext cx="1197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Layer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E11FA8-3C75-E517-1995-7D4D9C6C672E}"/>
              </a:ext>
            </a:extLst>
          </p:cNvPr>
          <p:cNvSpPr txBox="1"/>
          <p:nvPr/>
        </p:nvSpPr>
        <p:spPr>
          <a:xfrm>
            <a:off x="3176975" y="1123121"/>
            <a:ext cx="134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AI/ML Layer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57D6BF-5883-D9E9-BC01-875E95451E5D}"/>
              </a:ext>
            </a:extLst>
          </p:cNvPr>
          <p:cNvSpPr txBox="1"/>
          <p:nvPr/>
        </p:nvSpPr>
        <p:spPr>
          <a:xfrm>
            <a:off x="5342659" y="1123121"/>
            <a:ext cx="1685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Ingestion Layer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3AAA7B-554C-A53D-60B3-938CD76C27B3}"/>
              </a:ext>
            </a:extLst>
          </p:cNvPr>
          <p:cNvSpPr txBox="1"/>
          <p:nvPr/>
        </p:nvSpPr>
        <p:spPr>
          <a:xfrm>
            <a:off x="7811103" y="1123121"/>
            <a:ext cx="155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Backend Layer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C35FF6-E239-FEFE-AE16-8C1D6DC2EADC}"/>
              </a:ext>
            </a:extLst>
          </p:cNvPr>
          <p:cNvSpPr txBox="1"/>
          <p:nvPr/>
        </p:nvSpPr>
        <p:spPr>
          <a:xfrm>
            <a:off x="10122760" y="1123121"/>
            <a:ext cx="1617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Frontend Layer</a:t>
            </a:r>
            <a:endParaRPr lang="en-IN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5BF006-65DB-9136-CEF0-7975F3CF835A}"/>
              </a:ext>
            </a:extLst>
          </p:cNvPr>
          <p:cNvSpPr/>
          <p:nvPr/>
        </p:nvSpPr>
        <p:spPr>
          <a:xfrm>
            <a:off x="634447" y="1779104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E0CB8E-149D-FD27-D759-63D44967FBDF}"/>
              </a:ext>
            </a:extLst>
          </p:cNvPr>
          <p:cNvSpPr/>
          <p:nvPr/>
        </p:nvSpPr>
        <p:spPr>
          <a:xfrm>
            <a:off x="634447" y="3053385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61E9C43-9824-0889-9A35-E9961EE6DD17}"/>
              </a:ext>
            </a:extLst>
          </p:cNvPr>
          <p:cNvSpPr/>
          <p:nvPr/>
        </p:nvSpPr>
        <p:spPr>
          <a:xfrm>
            <a:off x="634447" y="4361301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25A5212-ADB1-4CD3-8802-978BADE8A05F}"/>
              </a:ext>
            </a:extLst>
          </p:cNvPr>
          <p:cNvSpPr/>
          <p:nvPr/>
        </p:nvSpPr>
        <p:spPr>
          <a:xfrm>
            <a:off x="2927072" y="1779104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05AE026-94DF-BFDF-A727-E2E1EAE61350}"/>
              </a:ext>
            </a:extLst>
          </p:cNvPr>
          <p:cNvSpPr/>
          <p:nvPr/>
        </p:nvSpPr>
        <p:spPr>
          <a:xfrm>
            <a:off x="2927072" y="3110949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CD599D-7709-95D0-C9F6-E0F2415F4D05}"/>
              </a:ext>
            </a:extLst>
          </p:cNvPr>
          <p:cNvSpPr/>
          <p:nvPr/>
        </p:nvSpPr>
        <p:spPr>
          <a:xfrm>
            <a:off x="2927071" y="4361301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B1707AE-FBE8-1456-1F66-A80947EEE5D1}"/>
              </a:ext>
            </a:extLst>
          </p:cNvPr>
          <p:cNvSpPr/>
          <p:nvPr/>
        </p:nvSpPr>
        <p:spPr>
          <a:xfrm>
            <a:off x="5262771" y="1823830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93C1569-849E-FE69-6F5D-F1D042E83BC2}"/>
              </a:ext>
            </a:extLst>
          </p:cNvPr>
          <p:cNvSpPr/>
          <p:nvPr/>
        </p:nvSpPr>
        <p:spPr>
          <a:xfrm>
            <a:off x="5262769" y="3139181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5FAC930-E723-B277-CF95-6A03102121FF}"/>
              </a:ext>
            </a:extLst>
          </p:cNvPr>
          <p:cNvSpPr/>
          <p:nvPr/>
        </p:nvSpPr>
        <p:spPr>
          <a:xfrm>
            <a:off x="5262769" y="4454532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56BE095-7968-7CE4-C6D1-8C34088F2174}"/>
              </a:ext>
            </a:extLst>
          </p:cNvPr>
          <p:cNvSpPr/>
          <p:nvPr/>
        </p:nvSpPr>
        <p:spPr>
          <a:xfrm>
            <a:off x="7703482" y="1868585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D296C2B-3789-0D18-AFD9-AA2F80863C87}"/>
              </a:ext>
            </a:extLst>
          </p:cNvPr>
          <p:cNvSpPr/>
          <p:nvPr/>
        </p:nvSpPr>
        <p:spPr>
          <a:xfrm>
            <a:off x="7651475" y="3139181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908D923-6279-815E-FAA6-EFCB07AF93CC}"/>
              </a:ext>
            </a:extLst>
          </p:cNvPr>
          <p:cNvSpPr/>
          <p:nvPr/>
        </p:nvSpPr>
        <p:spPr>
          <a:xfrm>
            <a:off x="10097310" y="1857033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66ACF2A-8BF6-CD3B-F755-6102365E3DEC}"/>
              </a:ext>
            </a:extLst>
          </p:cNvPr>
          <p:cNvSpPr/>
          <p:nvPr/>
        </p:nvSpPr>
        <p:spPr>
          <a:xfrm>
            <a:off x="10097310" y="3139181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CE7AEB9-11DA-CA84-CE2E-0F37D894A32B}"/>
              </a:ext>
            </a:extLst>
          </p:cNvPr>
          <p:cNvSpPr/>
          <p:nvPr/>
        </p:nvSpPr>
        <p:spPr>
          <a:xfrm>
            <a:off x="10097310" y="4417151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A73273-6139-A11E-70F2-1E3F858D3B07}"/>
              </a:ext>
            </a:extLst>
          </p:cNvPr>
          <p:cNvSpPr txBox="1"/>
          <p:nvPr/>
        </p:nvSpPr>
        <p:spPr>
          <a:xfrm>
            <a:off x="816798" y="1979889"/>
            <a:ext cx="14806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Databricks Delta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  Lake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A1A1E7-A183-AB54-302C-D708A64864D3}"/>
              </a:ext>
            </a:extLst>
          </p:cNvPr>
          <p:cNvSpPr txBox="1"/>
          <p:nvPr/>
        </p:nvSpPr>
        <p:spPr>
          <a:xfrm>
            <a:off x="772075" y="465483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Apache Spark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3929B3-CCBF-8C24-ACA6-FDBD953144D3}"/>
              </a:ext>
            </a:extLst>
          </p:cNvPr>
          <p:cNvSpPr txBox="1"/>
          <p:nvPr/>
        </p:nvSpPr>
        <p:spPr>
          <a:xfrm>
            <a:off x="3192049" y="1967517"/>
            <a:ext cx="1303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Lang Chain</a:t>
            </a:r>
          </a:p>
          <a:p>
            <a:r>
              <a:rPr lang="en-US" dirty="0">
                <a:solidFill>
                  <a:schemeClr val="bg1"/>
                </a:solidFill>
              </a:rPr>
              <a:t>Agents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68131E-3096-0F9E-A8C2-3A797F728B2B}"/>
              </a:ext>
            </a:extLst>
          </p:cNvPr>
          <p:cNvSpPr txBox="1"/>
          <p:nvPr/>
        </p:nvSpPr>
        <p:spPr>
          <a:xfrm>
            <a:off x="3535541" y="3377524"/>
            <a:ext cx="61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LLM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3B54CF-A19D-2D5C-964D-DBACE4BC4A9A}"/>
              </a:ext>
            </a:extLst>
          </p:cNvPr>
          <p:cNvSpPr txBox="1"/>
          <p:nvPr/>
        </p:nvSpPr>
        <p:spPr>
          <a:xfrm>
            <a:off x="3201948" y="4624335"/>
            <a:ext cx="13746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Scikit-Learn</a:t>
            </a:r>
          </a:p>
          <a:p>
            <a:r>
              <a:rPr lang="en-US" dirty="0">
                <a:solidFill>
                  <a:schemeClr val="bg1"/>
                </a:solidFill>
              </a:rPr>
              <a:t>  (scoring)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5847F8-3F7D-AABF-6689-2D85A1401818}"/>
              </a:ext>
            </a:extLst>
          </p:cNvPr>
          <p:cNvSpPr txBox="1"/>
          <p:nvPr/>
        </p:nvSpPr>
        <p:spPr>
          <a:xfrm>
            <a:off x="5424349" y="2071967"/>
            <a:ext cx="1650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Tesseract OCR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547A3F-DA2B-CD8A-F082-894303C68A35}"/>
              </a:ext>
            </a:extLst>
          </p:cNvPr>
          <p:cNvSpPr txBox="1"/>
          <p:nvPr/>
        </p:nvSpPr>
        <p:spPr>
          <a:xfrm>
            <a:off x="5530688" y="3295046"/>
            <a:ext cx="1317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Azure Form </a:t>
            </a:r>
          </a:p>
          <a:p>
            <a:r>
              <a:rPr lang="en-IN" dirty="0">
                <a:solidFill>
                  <a:schemeClr val="bg1"/>
                </a:solidFill>
              </a:rPr>
              <a:t>Recognizer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8B00A0-5CD2-5911-42B8-A7AA29A579B0}"/>
              </a:ext>
            </a:extLst>
          </p:cNvPr>
          <p:cNvSpPr txBox="1"/>
          <p:nvPr/>
        </p:nvSpPr>
        <p:spPr>
          <a:xfrm>
            <a:off x="5612089" y="4724472"/>
            <a:ext cx="1146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PyMuPDF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441741-0AB5-53ED-0794-A9C78926EA48}"/>
              </a:ext>
            </a:extLst>
          </p:cNvPr>
          <p:cNvSpPr txBox="1"/>
          <p:nvPr/>
        </p:nvSpPr>
        <p:spPr>
          <a:xfrm>
            <a:off x="7938692" y="3413357"/>
            <a:ext cx="136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Redis(cache)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07219E-D40C-FD87-71CE-950B3EE072F5}"/>
              </a:ext>
            </a:extLst>
          </p:cNvPr>
          <p:cNvSpPr txBox="1"/>
          <p:nvPr/>
        </p:nvSpPr>
        <p:spPr>
          <a:xfrm>
            <a:off x="10385606" y="2164354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React.js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1803C2-6A12-7E9A-ECBE-34C3204F32E9}"/>
              </a:ext>
            </a:extLst>
          </p:cNvPr>
          <p:cNvSpPr txBox="1"/>
          <p:nvPr/>
        </p:nvSpPr>
        <p:spPr>
          <a:xfrm>
            <a:off x="10385606" y="4654833"/>
            <a:ext cx="1171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Chart.js/D3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30BF61-F921-1B09-60A1-ED85C49702E7}"/>
              </a:ext>
            </a:extLst>
          </p:cNvPr>
          <p:cNvSpPr txBox="1"/>
          <p:nvPr/>
        </p:nvSpPr>
        <p:spPr>
          <a:xfrm>
            <a:off x="926156" y="3360836"/>
            <a:ext cx="1129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PostgreSQL</a:t>
            </a:r>
            <a:endParaRPr lang="en-IN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D6DDA6-3157-4133-DE07-C9C7FD5A1627}"/>
              </a:ext>
            </a:extLst>
          </p:cNvPr>
          <p:cNvSpPr txBox="1"/>
          <p:nvPr/>
        </p:nvSpPr>
        <p:spPr>
          <a:xfrm>
            <a:off x="7798214" y="2136913"/>
            <a:ext cx="1592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Python/</a:t>
            </a:r>
            <a:r>
              <a:rPr lang="en-US" dirty="0" err="1">
                <a:solidFill>
                  <a:schemeClr val="bg1"/>
                </a:solidFill>
              </a:rPr>
              <a:t>fastAPI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E60A46-034D-BF3C-727E-B0C22D267EDB}"/>
              </a:ext>
            </a:extLst>
          </p:cNvPr>
          <p:cNvSpPr txBox="1"/>
          <p:nvPr/>
        </p:nvSpPr>
        <p:spPr>
          <a:xfrm>
            <a:off x="10385606" y="3429000"/>
            <a:ext cx="1459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Tailwind CSS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564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410CA-D47D-C9CD-C7D5-EFE51B40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6363"/>
            <a:ext cx="10515600" cy="1325563"/>
          </a:xfrm>
        </p:spPr>
        <p:txBody>
          <a:bodyPr>
            <a:normAutofit/>
          </a:bodyPr>
          <a:lstStyle/>
          <a:p>
            <a:r>
              <a:rPr lang="en-US" sz="55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Indian Context 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6AEDC-A0FF-2045-DCCF-1C1E98353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1394"/>
            <a:ext cx="9234488" cy="64611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Baskerville Old Face" panose="02020602080505020303" pitchFamily="18" charset="0"/>
              </a:rPr>
              <a:t>Built Specifically for India’s regulatory and financial ecosystem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CEA9EA-A433-216D-8B75-75A4C2FD7547}"/>
              </a:ext>
            </a:extLst>
          </p:cNvPr>
          <p:cNvSpPr/>
          <p:nvPr/>
        </p:nvSpPr>
        <p:spPr>
          <a:xfrm>
            <a:off x="285747" y="1542255"/>
            <a:ext cx="5343525" cy="1472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646757-AC9E-8D1C-A67A-EEB2BCB5512C}"/>
              </a:ext>
            </a:extLst>
          </p:cNvPr>
          <p:cNvSpPr/>
          <p:nvPr/>
        </p:nvSpPr>
        <p:spPr>
          <a:xfrm>
            <a:off x="285749" y="3323430"/>
            <a:ext cx="5343525" cy="1472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A98CA8-EAB7-EDB6-7338-834414879549}"/>
              </a:ext>
            </a:extLst>
          </p:cNvPr>
          <p:cNvSpPr/>
          <p:nvPr/>
        </p:nvSpPr>
        <p:spPr>
          <a:xfrm>
            <a:off x="285748" y="5139926"/>
            <a:ext cx="5343525" cy="1472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92DC9-306E-4896-3578-76F8B2718038}"/>
              </a:ext>
            </a:extLst>
          </p:cNvPr>
          <p:cNvSpPr/>
          <p:nvPr/>
        </p:nvSpPr>
        <p:spPr>
          <a:xfrm>
            <a:off x="6267449" y="1542255"/>
            <a:ext cx="5343525" cy="1472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8BEB9D-6521-986E-4724-44BCABE8EFE4}"/>
              </a:ext>
            </a:extLst>
          </p:cNvPr>
          <p:cNvSpPr/>
          <p:nvPr/>
        </p:nvSpPr>
        <p:spPr>
          <a:xfrm>
            <a:off x="6267449" y="3323430"/>
            <a:ext cx="5343525" cy="1472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16BF0F-E2D0-0EE1-23AE-1A696A1AC76A}"/>
              </a:ext>
            </a:extLst>
          </p:cNvPr>
          <p:cNvSpPr/>
          <p:nvPr/>
        </p:nvSpPr>
        <p:spPr>
          <a:xfrm>
            <a:off x="6267449" y="5104605"/>
            <a:ext cx="5343525" cy="1472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E3FBE6-88E3-84D0-4A5C-BC31B9F4B9FF}"/>
              </a:ext>
            </a:extLst>
          </p:cNvPr>
          <p:cNvSpPr txBox="1"/>
          <p:nvPr/>
        </p:nvSpPr>
        <p:spPr>
          <a:xfrm>
            <a:off x="285747" y="1586071"/>
            <a:ext cx="3954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GSTR-2A GSTR-3B Reconciliation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F822D2-1768-483C-B3A2-D34B97AB6A07}"/>
              </a:ext>
            </a:extLst>
          </p:cNvPr>
          <p:cNvSpPr txBox="1"/>
          <p:nvPr/>
        </p:nvSpPr>
        <p:spPr>
          <a:xfrm>
            <a:off x="6267449" y="1586071"/>
            <a:ext cx="6223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MCA21 &amp; ROC Filings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D665CB-E421-EEE5-5749-6F4ACAEA89B2}"/>
              </a:ext>
            </a:extLst>
          </p:cNvPr>
          <p:cNvSpPr txBox="1"/>
          <p:nvPr/>
        </p:nvSpPr>
        <p:spPr>
          <a:xfrm>
            <a:off x="285747" y="3367245"/>
            <a:ext cx="6371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E-Courts Litigation Scraping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05783A-78C8-F2B4-743C-340FDD456F79}"/>
              </a:ext>
            </a:extLst>
          </p:cNvPr>
          <p:cNvSpPr txBox="1"/>
          <p:nvPr/>
        </p:nvSpPr>
        <p:spPr>
          <a:xfrm>
            <a:off x="251638" y="5148419"/>
            <a:ext cx="6371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RBI / SEBI Regulation Awareness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B8FA48-3E57-C62C-87D8-76B43114B59C}"/>
              </a:ext>
            </a:extLst>
          </p:cNvPr>
          <p:cNvSpPr txBox="1"/>
          <p:nvPr/>
        </p:nvSpPr>
        <p:spPr>
          <a:xfrm>
            <a:off x="6267449" y="3367245"/>
            <a:ext cx="6371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CIBIL Commercial Reports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C91175-7C18-9D0A-9610-37DE5F092500}"/>
              </a:ext>
            </a:extLst>
          </p:cNvPr>
          <p:cNvSpPr txBox="1"/>
          <p:nvPr/>
        </p:nvSpPr>
        <p:spPr>
          <a:xfrm>
            <a:off x="6267449" y="5158463"/>
            <a:ext cx="6445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Sanction Letter Parsing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91805E-0497-42A7-A4CF-88C46CA2D0A1}"/>
              </a:ext>
            </a:extLst>
          </p:cNvPr>
          <p:cNvSpPr txBox="1"/>
          <p:nvPr/>
        </p:nvSpPr>
        <p:spPr>
          <a:xfrm>
            <a:off x="285747" y="2062895"/>
            <a:ext cx="53435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Detects mismatches between ITC claimed and actual supplier filings to spot fraud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66E04D-728D-01F2-B9E3-DCB38FE44724}"/>
              </a:ext>
            </a:extLst>
          </p:cNvPr>
          <p:cNvSpPr txBox="1"/>
          <p:nvPr/>
        </p:nvSpPr>
        <p:spPr>
          <a:xfrm>
            <a:off x="285746" y="3719825"/>
            <a:ext cx="50863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Scans civil &amp; commercial courts for pending cases against company or promoters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E007CB-E256-A212-9890-1AB7B4C654EF}"/>
              </a:ext>
            </a:extLst>
          </p:cNvPr>
          <p:cNvSpPr txBox="1"/>
          <p:nvPr/>
        </p:nvSpPr>
        <p:spPr>
          <a:xfrm>
            <a:off x="285747" y="5644843"/>
            <a:ext cx="51482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Tracks sector-specific regulatory changes (e.g., NBFC norms, priority sector rules)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7FBF44-534A-1D1A-3C62-B458479C4BA5}"/>
              </a:ext>
            </a:extLst>
          </p:cNvPr>
          <p:cNvSpPr txBox="1"/>
          <p:nvPr/>
        </p:nvSpPr>
        <p:spPr>
          <a:xfrm>
            <a:off x="6325826" y="2045167"/>
            <a:ext cx="50898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Monitors charge creation, director changes, and annual filing compliance status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A8F2D9-199C-DC10-4F68-371C9880C7BC}"/>
              </a:ext>
            </a:extLst>
          </p:cNvPr>
          <p:cNvSpPr txBox="1"/>
          <p:nvPr/>
        </p:nvSpPr>
        <p:spPr>
          <a:xfrm>
            <a:off x="6325827" y="3765991"/>
            <a:ext cx="52851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Integrates commercial credit scores and trade references for SME/mid-</a:t>
            </a:r>
            <a:r>
              <a:rPr lang="en-US" sz="2100" dirty="0" err="1">
                <a:latin typeface="Baskerville Old Face" panose="02020602080505020303" pitchFamily="18" charset="0"/>
              </a:rPr>
              <a:t>corp</a:t>
            </a:r>
            <a:r>
              <a:rPr lang="en-US" sz="2100" dirty="0">
                <a:latin typeface="Baskerville Old Face" panose="02020602080505020303" pitchFamily="18" charset="0"/>
              </a:rPr>
              <a:t> borrowers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998E72-C618-FDF9-AFF5-3502077AC193}"/>
              </a:ext>
            </a:extLst>
          </p:cNvPr>
          <p:cNvSpPr txBox="1"/>
          <p:nvPr/>
        </p:nvSpPr>
        <p:spPr>
          <a:xfrm>
            <a:off x="6325826" y="5644922"/>
            <a:ext cx="50898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Extracts existing bank credit limits and covenants from multi-bank sanction letters</a:t>
            </a:r>
          </a:p>
        </p:txBody>
      </p:sp>
    </p:spTree>
    <p:extLst>
      <p:ext uri="{BB962C8B-B14F-4D97-AF65-F5344CB8AC3E}">
        <p14:creationId xmlns:p14="http://schemas.microsoft.com/office/powerpoint/2010/main" val="148633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95D27-5FAD-CE33-7319-3286105EE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510" y="15864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3 Differentiators That Make Intelli-Credit Bank-Grade</a:t>
            </a:r>
            <a:endParaRPr lang="en-IN" dirty="0">
              <a:solidFill>
                <a:schemeClr val="accent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6CEEF-7B55-0455-3289-B31B64123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b="1" dirty="0">
                <a:latin typeface="Baskerville Old Face" panose="02020602080505020303" pitchFamily="18" charset="0"/>
              </a:rPr>
              <a:t>GSTR-2A vs 3B Reconciliation Engine:-</a:t>
            </a:r>
            <a:r>
              <a:rPr lang="en-US" sz="2400" dirty="0">
                <a:latin typeface="Baskerville Old Face" panose="02020602080505020303" pitchFamily="18" charset="0"/>
              </a:rPr>
              <a:t>Auto-compares supplier-filed GSTR-2A against company-claimed GSTR-3B to detect revenue inflation and fake ITC claims</a:t>
            </a:r>
          </a:p>
          <a:p>
            <a:r>
              <a:rPr lang="en-IN" dirty="0">
                <a:latin typeface="Baskerville Old Face" panose="02020602080505020303" pitchFamily="18" charset="0"/>
              </a:rPr>
              <a:t> </a:t>
            </a:r>
            <a:r>
              <a:rPr lang="en-IN" sz="2400" b="1" dirty="0">
                <a:latin typeface="Baskerville Old Face" panose="02020602080505020303" pitchFamily="18" charset="0"/>
              </a:rPr>
              <a:t>Promoter Network Graph</a:t>
            </a:r>
            <a:r>
              <a:rPr lang="en-IN" sz="2400" dirty="0">
                <a:latin typeface="Baskerville Old Face" panose="02020602080505020303" pitchFamily="18" charset="0"/>
              </a:rPr>
              <a:t>:-</a:t>
            </a:r>
            <a:r>
              <a:rPr lang="en-US" sz="2400" dirty="0">
                <a:latin typeface="Baskerville Old Face" panose="02020602080505020303" pitchFamily="18" charset="0"/>
              </a:rPr>
              <a:t>Uses MCA21 director DIN data to build a visual graph of every company a promoter controls — exposing circular lending, shell companies, and cross-collateralization risk</a:t>
            </a:r>
          </a:p>
          <a:p>
            <a:r>
              <a:rPr lang="en-IN" sz="2400" b="1" dirty="0">
                <a:latin typeface="Baskerville Old Face" panose="02020602080505020303" pitchFamily="18" charset="0"/>
              </a:rPr>
              <a:t>Confidence Score + RBI-Compliant Human-in-the-Loop</a:t>
            </a:r>
            <a:r>
              <a:rPr lang="en-IN" sz="2400" dirty="0">
                <a:latin typeface="Baskerville Old Face" panose="02020602080505020303" pitchFamily="18" charset="0"/>
              </a:rPr>
              <a:t>:-</a:t>
            </a:r>
            <a:r>
              <a:rPr lang="en-US" sz="2400" dirty="0">
                <a:latin typeface="Baskerville Old Face" panose="02020602080505020303" pitchFamily="18" charset="0"/>
              </a:rPr>
              <a:t>Instead of a black-box yes/no, Intelli-Credit outputs a confidence-banded recommendation with mandatory human review triggers — fully aligned with RBI's 2024 guidelines on AI in credit decisioning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   Intelli-Credit doesn't replace the credit manager — it makes them 10x faster and                     gives regulators everything they need to sleep at night.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8635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DB08-E2C1-B43E-A8FD-21DD0701B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7" y="-147634"/>
            <a:ext cx="10515600" cy="1325563"/>
          </a:xfrm>
        </p:spPr>
        <p:txBody>
          <a:bodyPr/>
          <a:lstStyle/>
          <a:p>
            <a:r>
              <a:rPr lang="en-US" dirty="0"/>
              <a:t>Evaluation Criteria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C04DAE-6281-449E-9962-83B58F2F89BC}"/>
              </a:ext>
            </a:extLst>
          </p:cNvPr>
          <p:cNvSpPr/>
          <p:nvPr/>
        </p:nvSpPr>
        <p:spPr>
          <a:xfrm>
            <a:off x="581025" y="2528890"/>
            <a:ext cx="11158538" cy="107473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ADB9C9-2A23-F641-E46B-442234280B20}"/>
              </a:ext>
            </a:extLst>
          </p:cNvPr>
          <p:cNvSpPr/>
          <p:nvPr/>
        </p:nvSpPr>
        <p:spPr>
          <a:xfrm>
            <a:off x="581025" y="1203327"/>
            <a:ext cx="11158538" cy="107473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9B2899-70F2-65D4-8009-C71426681B0B}"/>
              </a:ext>
            </a:extLst>
          </p:cNvPr>
          <p:cNvSpPr/>
          <p:nvPr/>
        </p:nvSpPr>
        <p:spPr>
          <a:xfrm>
            <a:off x="581025" y="3942558"/>
            <a:ext cx="11158538" cy="107473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F58CDFF-E7D7-C01D-3D22-51BB27A4F48B}"/>
              </a:ext>
            </a:extLst>
          </p:cNvPr>
          <p:cNvSpPr/>
          <p:nvPr/>
        </p:nvSpPr>
        <p:spPr>
          <a:xfrm>
            <a:off x="581025" y="5356226"/>
            <a:ext cx="11158538" cy="107473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FEC362-3D43-2E81-FD1B-D375425FB4B5}"/>
              </a:ext>
            </a:extLst>
          </p:cNvPr>
          <p:cNvSpPr/>
          <p:nvPr/>
        </p:nvSpPr>
        <p:spPr>
          <a:xfrm>
            <a:off x="581025" y="1203327"/>
            <a:ext cx="261938" cy="1074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6734577-D472-1975-10D8-18212ACA77E4}"/>
              </a:ext>
            </a:extLst>
          </p:cNvPr>
          <p:cNvSpPr/>
          <p:nvPr/>
        </p:nvSpPr>
        <p:spPr>
          <a:xfrm>
            <a:off x="581025" y="2528890"/>
            <a:ext cx="261938" cy="10747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E05713-1585-1764-C090-7D4C1E4B4B32}"/>
              </a:ext>
            </a:extLst>
          </p:cNvPr>
          <p:cNvSpPr/>
          <p:nvPr/>
        </p:nvSpPr>
        <p:spPr>
          <a:xfrm>
            <a:off x="581025" y="3942558"/>
            <a:ext cx="261938" cy="107473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01A5228-5BC7-B468-195C-C187B212BF9D}"/>
              </a:ext>
            </a:extLst>
          </p:cNvPr>
          <p:cNvSpPr/>
          <p:nvPr/>
        </p:nvSpPr>
        <p:spPr>
          <a:xfrm>
            <a:off x="581025" y="5356226"/>
            <a:ext cx="261938" cy="107473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92ECD9-4375-235F-BE05-C988573879D3}"/>
              </a:ext>
            </a:extLst>
          </p:cNvPr>
          <p:cNvSpPr txBox="1"/>
          <p:nvPr/>
        </p:nvSpPr>
        <p:spPr>
          <a:xfrm>
            <a:off x="966788" y="1516861"/>
            <a:ext cx="232788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Extraction Accuracy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0CAE9D-DE98-3011-CBEF-BCDC27ED3B79}"/>
              </a:ext>
            </a:extLst>
          </p:cNvPr>
          <p:cNvSpPr txBox="1"/>
          <p:nvPr/>
        </p:nvSpPr>
        <p:spPr>
          <a:xfrm>
            <a:off x="966788" y="2851579"/>
            <a:ext cx="207645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Data Sources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C356F4-35E2-69C6-0AD2-DEA52A053093}"/>
              </a:ext>
            </a:extLst>
          </p:cNvPr>
          <p:cNvSpPr txBox="1"/>
          <p:nvPr/>
        </p:nvSpPr>
        <p:spPr>
          <a:xfrm>
            <a:off x="966788" y="4272177"/>
            <a:ext cx="26182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ML Models used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F30863-8604-64D9-E324-146C30DF81BB}"/>
              </a:ext>
            </a:extLst>
          </p:cNvPr>
          <p:cNvSpPr txBox="1"/>
          <p:nvPr/>
        </p:nvSpPr>
        <p:spPr>
          <a:xfrm>
            <a:off x="966788" y="5685845"/>
            <a:ext cx="28908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Indian Context Sensitivity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A2905A-4B80-9A13-E922-B805986751B7}"/>
              </a:ext>
            </a:extLst>
          </p:cNvPr>
          <p:cNvSpPr txBox="1"/>
          <p:nvPr/>
        </p:nvSpPr>
        <p:spPr>
          <a:xfrm>
            <a:off x="4296965" y="1387815"/>
            <a:ext cx="769977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latin typeface="Baskerville Old Face" panose="02020602080505020303" pitchFamily="18" charset="0"/>
              </a:rPr>
              <a:t>OCR + LLM extraction pipeline handles scanned, multi-column, Hindi-English Indian PDFs with &gt;80% field accuracy on tested documents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8319AF-A61E-B57B-B466-E4492B30EC45}"/>
              </a:ext>
            </a:extLst>
          </p:cNvPr>
          <p:cNvSpPr txBox="1"/>
          <p:nvPr/>
        </p:nvSpPr>
        <p:spPr>
          <a:xfrm>
            <a:off x="4296965" y="2727704"/>
            <a:ext cx="731401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latin typeface="Baskerville Old Face" panose="02020602080505020303" pitchFamily="18" charset="0"/>
              </a:rPr>
              <a:t>Over 6+ Documents has been Tested 	: </a:t>
            </a:r>
            <a:r>
              <a:rPr lang="en-US" sz="1900">
                <a:latin typeface="Baskerville Old Face" panose="02020602080505020303" pitchFamily="18" charset="0"/>
              </a:rPr>
              <a:t>Bank Statements(40) , GSTR-3B(35) </a:t>
            </a:r>
            <a:r>
              <a:rPr lang="en-US" sz="1900" dirty="0">
                <a:latin typeface="Baskerville Old Face" panose="02020602080505020303" pitchFamily="18" charset="0"/>
              </a:rPr>
              <a:t>, </a:t>
            </a:r>
            <a:r>
              <a:rPr lang="en-US" sz="1900">
                <a:latin typeface="Baskerville Old Face" panose="02020602080505020303" pitchFamily="18" charset="0"/>
              </a:rPr>
              <a:t>Annual Reports(32) </a:t>
            </a:r>
            <a:r>
              <a:rPr lang="en-US" sz="1900" dirty="0">
                <a:latin typeface="Baskerville Old Face" panose="02020602080505020303" pitchFamily="18" charset="0"/>
              </a:rPr>
              <a:t>, </a:t>
            </a:r>
            <a:r>
              <a:rPr lang="en-US" sz="1900">
                <a:latin typeface="Baskerville Old Face" panose="02020602080505020303" pitchFamily="18" charset="0"/>
              </a:rPr>
              <a:t>MCA Data(27) </a:t>
            </a:r>
            <a:r>
              <a:rPr lang="en-US" sz="1900" dirty="0">
                <a:latin typeface="Baskerville Old Face" panose="02020602080505020303" pitchFamily="18" charset="0"/>
              </a:rPr>
              <a:t>, </a:t>
            </a:r>
            <a:r>
              <a:rPr lang="en-US" sz="1900">
                <a:latin typeface="Baskerville Old Face" panose="02020602080505020303" pitchFamily="18" charset="0"/>
              </a:rPr>
              <a:t>News Articles(15)</a:t>
            </a:r>
            <a:endParaRPr lang="en-US" sz="1900" dirty="0">
              <a:latin typeface="Baskerville Old Face" panose="020206020805050203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F19B45-AEE3-7E4D-F497-9B798B7BDB86}"/>
              </a:ext>
            </a:extLst>
          </p:cNvPr>
          <p:cNvSpPr txBox="1"/>
          <p:nvPr/>
        </p:nvSpPr>
        <p:spPr>
          <a:xfrm>
            <a:off x="4296965" y="4127443"/>
            <a:ext cx="731401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 err="1">
                <a:latin typeface="Baskerville Old Face" panose="02020602080505020303" pitchFamily="18" charset="0"/>
              </a:rPr>
              <a:t>XGBoost</a:t>
            </a:r>
            <a:r>
              <a:rPr lang="en-US" sz="1900" dirty="0">
                <a:latin typeface="Baskerville Old Face" panose="02020602080505020303" pitchFamily="18" charset="0"/>
              </a:rPr>
              <a:t> , Random Forest , Logistic Regression , SHAP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55C147-0381-FDAA-78DC-FB4D5987AC9A}"/>
              </a:ext>
            </a:extLst>
          </p:cNvPr>
          <p:cNvSpPr txBox="1"/>
          <p:nvPr/>
        </p:nvSpPr>
        <p:spPr>
          <a:xfrm>
            <a:off x="4296965" y="5470185"/>
            <a:ext cx="731401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/>
              <a:t>Native support for GSTR-2A/3B reconciliation, CIBIL Commercial, MCA filings, RBI norms, and regional language documents</a:t>
            </a:r>
          </a:p>
        </p:txBody>
      </p:sp>
    </p:spTree>
    <p:extLst>
      <p:ext uri="{BB962C8B-B14F-4D97-AF65-F5344CB8AC3E}">
        <p14:creationId xmlns:p14="http://schemas.microsoft.com/office/powerpoint/2010/main" val="1325962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4E95-E9F2-11BE-3AEB-EB7CE2E3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F2CE9-1604-7381-8767-27C9BF83A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1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55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Working Prototype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16614-3A00-338C-CE67-9BAD30B2A54C}"/>
              </a:ext>
            </a:extLst>
          </p:cNvPr>
          <p:cNvSpPr txBox="1"/>
          <p:nvPr/>
        </p:nvSpPr>
        <p:spPr>
          <a:xfrm>
            <a:off x="136071" y="1078272"/>
            <a:ext cx="20201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Baskerville Old Face" panose="02020602080505020303" pitchFamily="18" charset="0"/>
              </a:rPr>
              <a:t>Login Pages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F1F06B-DD0F-7398-2CDB-111A9AB0F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13" t="26447" r="33320" b="6437"/>
          <a:stretch>
            <a:fillRect/>
          </a:stretch>
        </p:blipFill>
        <p:spPr>
          <a:xfrm>
            <a:off x="328613" y="1771650"/>
            <a:ext cx="2692883" cy="3000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5562BC-83DF-0A01-5D5D-5A96821B9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9" t="19581" r="34375" b="4352"/>
          <a:stretch>
            <a:fillRect/>
          </a:stretch>
        </p:blipFill>
        <p:spPr>
          <a:xfrm>
            <a:off x="7934325" y="1355271"/>
            <a:ext cx="3929062" cy="52141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558539-2D68-BE08-5E2B-200E3259F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01" t="30030" r="34922" b="7271"/>
          <a:stretch>
            <a:fillRect/>
          </a:stretch>
        </p:blipFill>
        <p:spPr>
          <a:xfrm>
            <a:off x="3589579" y="1632270"/>
            <a:ext cx="3776662" cy="429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736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BBA91-1391-C35F-2D6C-06413035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1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55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Working Prototype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4152F1-50AF-2CDF-3D5D-0DDD0768A785}"/>
              </a:ext>
            </a:extLst>
          </p:cNvPr>
          <p:cNvSpPr txBox="1"/>
          <p:nvPr/>
        </p:nvSpPr>
        <p:spPr>
          <a:xfrm>
            <a:off x="136071" y="1078272"/>
            <a:ext cx="24384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Baskerville Old Face" panose="02020602080505020303" pitchFamily="18" charset="0"/>
              </a:rPr>
              <a:t>Company Side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775DFE-3192-B0DA-487C-363144D7E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4" t="26427" r="9866" b="13096"/>
          <a:stretch>
            <a:fillRect/>
          </a:stretch>
        </p:blipFill>
        <p:spPr>
          <a:xfrm>
            <a:off x="257780" y="1803400"/>
            <a:ext cx="7244999" cy="34686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6E3D0D-6EA8-52BC-CB3F-6B81947A3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21" t="16100" r="29687" b="3787"/>
          <a:stretch>
            <a:fillRect/>
          </a:stretch>
        </p:blipFill>
        <p:spPr>
          <a:xfrm>
            <a:off x="7624488" y="974662"/>
            <a:ext cx="4431441" cy="536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632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8E3D8-22B1-838D-8843-6A954CBB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15DA-3135-F5ED-2776-EE75ED127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1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55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Working Prototype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30F29-C90C-EFE7-CD29-D3795B3F3D9D}"/>
              </a:ext>
            </a:extLst>
          </p:cNvPr>
          <p:cNvSpPr txBox="1"/>
          <p:nvPr/>
        </p:nvSpPr>
        <p:spPr>
          <a:xfrm>
            <a:off x="136071" y="1078272"/>
            <a:ext cx="17620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Baskerville Old Face" panose="02020602080505020303" pitchFamily="18" charset="0"/>
              </a:rPr>
              <a:t>Bank Side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A22CC2-546A-F8AA-F59F-64FD9C0D2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2" t="15705" r="5982" b="5693"/>
          <a:stretch>
            <a:fillRect/>
          </a:stretch>
        </p:blipFill>
        <p:spPr>
          <a:xfrm>
            <a:off x="564696" y="1632270"/>
            <a:ext cx="10515600" cy="50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958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801</Words>
  <Application>Microsoft Office PowerPoint</Application>
  <PresentationFormat>Widescreen</PresentationFormat>
  <Paragraphs>172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Rounded MT Bold</vt:lpstr>
      <vt:lpstr>Baskerville Old Face</vt:lpstr>
      <vt:lpstr>Calibri</vt:lpstr>
      <vt:lpstr>Calibri Light</vt:lpstr>
      <vt:lpstr>Office Theme</vt:lpstr>
      <vt:lpstr>Intelli-Credit</vt:lpstr>
      <vt:lpstr>Problem Context</vt:lpstr>
      <vt:lpstr>Our Solution</vt:lpstr>
      <vt:lpstr>Data Ingestor</vt:lpstr>
      <vt:lpstr>Research Agent The Digital Credit Manager — Automated Secondary Research + Primary Insight Portal</vt:lpstr>
      <vt:lpstr>Recommendation Engine</vt:lpstr>
      <vt:lpstr>System Architecture</vt:lpstr>
      <vt:lpstr>Architecture Diagram</vt:lpstr>
      <vt:lpstr>Tech Stack</vt:lpstr>
      <vt:lpstr>Indian Context Sensitivity</vt:lpstr>
      <vt:lpstr>3 Differentiators That Make Intelli-Credit Bank-Grade</vt:lpstr>
      <vt:lpstr>Evaluation Criteria</vt:lpstr>
      <vt:lpstr>Working Prototype</vt:lpstr>
      <vt:lpstr>Working Prototype</vt:lpstr>
      <vt:lpstr>Working Prototype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M</dc:creator>
  <cp:lastModifiedBy>Deepak M</cp:lastModifiedBy>
  <cp:revision>13</cp:revision>
  <dcterms:created xsi:type="dcterms:W3CDTF">2026-03-09T17:28:00Z</dcterms:created>
  <dcterms:modified xsi:type="dcterms:W3CDTF">2026-03-10T10:33:50Z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EFF9139AC333493197A8BA6CB0110C07_13</vt:lpwstr>
  </property>
  <property fmtid="{D5CDD505-2E9C-101B-9397-08002B2CF9AE}" pid="3" name="KSOProductBuildVer">
    <vt:lpwstr>1033-12.2.0.23196</vt:lpwstr>
  </property>
</Properties>
</file>