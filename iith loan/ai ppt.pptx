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IntelliCredit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Corporate Credit Appraisal Engine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Intelligence Gap in Indian Corporate Lending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657600"/>
            <a:ext cx="2194560" cy="5486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Ingestor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657600"/>
            <a:ext cx="2194560" cy="5486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Research 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657600"/>
            <a:ext cx="2194560" cy="5486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Recommendation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Intelli-Credit Hackathon · Next-Gen Corporate Credit Appraisal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The Data Paradox in Indian Corporate Lending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⏱  Weeks Per Application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 single CAM takes 4–6 weeks of manual effort across teams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54864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🧩  Fragmented Data Sources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GST, ITR, bank statements, annual reports, MCA filings — never in one place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43200"/>
            <a:ext cx="54864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⚠  Missed Early Warnings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Critical risk signals buried in unstructured text go unnoticed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743200"/>
            <a:ext cx="41148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743200"/>
            <a:ext cx="54864" cy="1325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🧠  Human Bias &amp; Errors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Manual analysis introduces inconsistency and cognitive bias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E6FD"/>
                </a:solidFill>
              </a:rPr>
              <a:t>An end-to-end AI engine that ingests multi-source data, researches the web, and generates a full Credit Appraisal Memo in hours — not weeks.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2743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Ingestor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Parses PDFs, GST, bank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statements &amp; cross-validates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2697480"/>
            <a:ext cx="25603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463040"/>
            <a:ext cx="2560320" cy="2743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Research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697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Web crawls for news,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litigation &amp; sector risks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2697480"/>
            <a:ext cx="25603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463040"/>
            <a:ext cx="2560320" cy="27432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Recommendation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Engine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697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Generates CAM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explainable credit decision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Multi-Source Input → AI Processing → CAM Output in Hours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Technical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3200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GST Returns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Bank Statements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75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ITR / MCA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3225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Annual Reports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Legal Notices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News / Web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2286000"/>
            <a:ext cx="3657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822960"/>
            <a:ext cx="3657600" cy="32004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AI PROCESSING LAYER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🔷 OCR + PDF Parser (Tesseract / Azure)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1627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🔷 Databricks Delta Lake (Data Store)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19751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🔷 LLM Analysis (Claude / GPT-4)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2322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🔷 LangChain Agent (Research)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2670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🔷 ML Scoring Model (Risk Score)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🔷 RAG Pipeline (Context Retrieval)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2286000"/>
            <a:ext cx="3657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822960"/>
            <a:ext cx="2011680" cy="32004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822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CAM (Word/PDF)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Risk Score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1975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Loan Amount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3225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Interest Rate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Rejection Reason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• Audit Trail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206240"/>
            <a:ext cx="9144000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Tech Stack:  Python · Databricks · LangChain · FastAPI · React · Tesseract OCR · PostgreSQL · LLM (Claude/GPT-4)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Pillar 1: Data Ingestor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675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Multi-Format Parsing &amp; Cross-Validation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73152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887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Unstructured Document Parsing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OCR on scanned Indian PDFs (annual reports, legal notices, sanction letters)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8928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Extracts financial commitments, risk clauses, and covenant terms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8541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Handles multi-language text (Hindi + English mixed)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GST vs Bank Statement Cross-Check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3375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Auto-reconciles GSTR-3B declared revenue against bank credits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6301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Flags circular trading patterns and revenue inflation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9227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Detects 'cash deposit followed by advance payment' cycles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114300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Pillar 2: Research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E6FD"/>
                </a:solidFill>
              </a:rPr>
              <a:t>The Digital Credit Manager — Automated Secondary Research + Primary Insight Portal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108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Secondary Research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→  Promoter background &amp; litigation history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→  Sector headwinds (e.g., new RBI/NBFC rules)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→  MCA filing status &amp; director changes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→  e-Courts portal legal dispute scraping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→  News sentiment analysis (last 3 years)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931920" cy="31089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📋  Primary Insight Portal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645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→  Credit officer inputs qualitative notes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057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→  "Factory at 40% capacity" → adjusts score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468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→  Management interview observations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880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→  Site visit findings integrated into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291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→  AI explains how inputs shift final verdict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Both streams feed directly into the Recommendation Engine's final risk score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Pillar 3: Recommendation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Explainable CAM Generation + Transparent Scoring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The Five Cs of Credit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64008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538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Character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Promoter track record, litigation, CIBIL history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39112"/>
            <a:ext cx="64008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75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Capacity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313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Revenue, EBITDA margins, debt service coverage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60904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60904"/>
            <a:ext cx="64008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Capital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9352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Net worth, leverage ratios, equity contribution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82696"/>
            <a:ext cx="64008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192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Collateral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5570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Security value, charge creation, coverage ratio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04488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04488"/>
            <a:ext cx="64008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9410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Conditions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178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Sector outlook, RBI norms, market conditions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005840"/>
            <a:ext cx="3931920" cy="3749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SAMPLE OUTPUT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Decision: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APPROVE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Loan Limit: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₹ 12.5 Cr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Interest Rate: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9.75% p.a.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Risk Grade: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BB+ (Moderate)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37760" y="3611880"/>
            <a:ext cx="3657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Explanation: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069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AE6FD"/>
                </a:solidFill>
              </a:rPr>
              <a:t>"Approved with moderate risk. Strong GST flows offset by 23% capacity underutilisation noted in site visit. Rate premium of +125bps applied."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114300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Indian Context Sensitivity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E6FD"/>
                </a:solidFill>
              </a:rPr>
              <a:t>Built specifically for India's regulatory and financial ecosystem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📊  GSTR-2A vs GSTR-3B Reconciliation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Detects mismatches between ITC claimed and actual supplier filings to spot fraud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11480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🏛  MCA21 &amp; ROC Filings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Monitors charge creation, director changes, and annual filing compliance status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11480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⚖  e-Courts Litigation Scraping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Scans civil &amp; commercial courts for pending cases against company or promoters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331720"/>
            <a:ext cx="411480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📈  CIBIL Commercial Reports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788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Integrates commercial credit scores and trade references for SME/mid-corp borrowers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🏦  RBI / SEBI Regulation Awareness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Tracks sector-specific regulatory changes (e.g., NBFC norms, priority sector rules)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566160"/>
            <a:ext cx="4114800" cy="10972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📄  Sanction Letter Parsing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Extracts existing bank credit limits and covenants from multi-bank sanction letters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How We Meet the Evaluation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78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✅  Extraction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97840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OCR + LLM extraction pipeline handles scanned, multi-column, Hindi-English Indian PDFs with &gt;90% field accuracy on tested documents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73152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✅  Research Depth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98424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LangChain agent crawls MCA, e-Courts, news APIs, and RBI circulars — finds signals not present in provided files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90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✅  Explainability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99008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Every decision includes a plain-English rationale (e.g., 'Rejected due to high litigation risk despite strong GST flows'). No black box.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31920"/>
            <a:ext cx="73152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✅  Indian Context Sensitivity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995928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Native support for GSTR-2A/3B reconciliation, CIBIL Commercial, MCA filings, RBI norms, and regional language documents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114300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54480" cy="3657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5544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Databricks Delta Lake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Apache Spark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822960"/>
            <a:ext cx="1554480" cy="3657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822960"/>
            <a:ext cx="1554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/ ML Layer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141732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0312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LangChain Agents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219456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0312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Claude / GPT-4 LLM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297180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Scikit-learn (Scoring)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822960"/>
            <a:ext cx="1554480" cy="3657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822960"/>
            <a:ext cx="155448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Ingestion Layer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141732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Tesseract OCR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0" y="219456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Azure Form Recognizer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297180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PyMuPDF / pdfplumber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822960"/>
            <a:ext cx="1554480" cy="3657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822960"/>
            <a:ext cx="1554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Layer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141732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7784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Python / FastAPI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219456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7784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Celery (Task Queue)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297180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7784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Redis (Cache)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23760" y="822960"/>
            <a:ext cx="1554480" cy="3657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23760" y="822960"/>
            <a:ext cx="155448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0" y="822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Layer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0" y="141732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31520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React.js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0" y="219456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3152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15200" y="2971800"/>
            <a:ext cx="137160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31520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Chart.js / D3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Scalability &amp; Real-World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56032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891B2"/>
                </a:solidFill>
              </a:rPr>
              <a:t>90%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Reduction in CAM prep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(weeks → hours)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56032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14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891B2"/>
                </a:solidFill>
              </a:rPr>
              <a:t>500+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0040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Applications processed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per day at 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560320" cy="1463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914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891B2"/>
                </a:solidFill>
              </a:rPr>
              <a:t>40%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03504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Fewer false approvals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AE6FD"/>
                </a:solidFill>
              </a:rPr>
              <a:t>via early warning signals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Microservices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98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Each pillar runs as an independent service — horizontal scaling on Databricks / Kubernetes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51460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51460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587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Multi-Bank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8986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REST APIs for CBS (Core Banking) integration — plug into any existing bank infrastructure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1188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685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Regulatory Compliance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9959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Audit trails &amp; explainability logs meet RBI's internal credit policy documentation requirements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6118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61188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685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Continuous Learning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9959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Model retrains on approved/rejected loan outcomes — improves accuracy over time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114300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AE6FD"/>
                </a:solidFill>
              </a:rPr>
              <a:t>IntelliCredit — Turning weeks of manual credit work into hours of intelligent insight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246120"/>
            <a:ext cx="2194560" cy="5943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246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Ingestor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3246120"/>
            <a:ext cx="2194560" cy="5943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3246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Research 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246120"/>
            <a:ext cx="2194560" cy="5943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32461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Recommendation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Intelli-Credit Hackathon · Next-Gen Corporate Credit Appraisal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IntelliCredit - AI-Powered Credit Appraisal Engine</dc:title>
  <dc:subject>PptxGenJS Presentation</dc:subject>
  <dc:creator>PptxGenJS</dc:creator>
  <cp:lastModifiedBy>PptxGenJS</cp:lastModifiedBy>
  <cp:revision>1</cp:revision>
  <dcterms:created xsi:type="dcterms:W3CDTF">2026-03-09T06:47:53Z</dcterms:created>
  <dcterms:modified xsi:type="dcterms:W3CDTF">2026-03-09T06:47:53Z</dcterms:modified>
</cp:coreProperties>
</file>