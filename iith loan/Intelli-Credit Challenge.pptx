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F27DF-4575-A1C0-C0B6-E20D0A11D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B66D9-1159-3398-B903-200A6B764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A3C4F-0CA9-C835-6769-7EDA46BDE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A4A9E-1664-12DC-46A6-D5DB825E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A6AA-EEAB-7CBA-075A-78D80908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5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CB3BD-3FF0-5625-5BC1-60747327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FFA71-9C1E-583F-D1FB-46540854E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51727-946E-F261-3F8E-164C97296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25666-CDCC-1B31-FAC5-94EF2DA55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405E0-FF93-7D8D-FE89-2CCF904B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31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DD48B-AA98-FB95-AD37-4233A50C0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6342B-3F98-FE52-89D8-1523B8E6C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6CBA7-7A37-5BF9-495C-2C8CBFB1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D9BBB-84A0-11A9-D45B-24E44544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073B3-DE8F-2D1F-1B1A-A987854F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5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7FF9-C92C-B917-C9F9-97D532757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CB849-4DB2-7246-116B-811EFE4C7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95F78-ACEF-C470-C49D-311448CA2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57E14-5298-DCE7-5944-7D5B917F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E4662-AF9B-EC80-2128-448EA3DF4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03572-772D-3062-CF0B-2669C16E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8943-A742-43E6-494F-0A5234CF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2B8F2-093D-81E5-96FA-49E7E002B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E03A-ABE1-8387-8BBE-0C41E4CAB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0824BC-D76E-DF6B-6335-538287673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1912AA-E6C1-404F-E69C-7ECDCCC81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56696-3647-6234-9FDA-52EB5CC5B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0F5049-D1E7-8319-991E-DC2516FFB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2EB952-F6DE-8758-2CA2-36BE79FF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7D48-8ACD-E987-A456-740C9704E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237624-058B-33D8-23D7-3E943E58B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C2B794-69D8-F564-8929-A4A7C5F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180BA-63B3-9812-A3A1-8C48B873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05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8183AF-1B4E-7BE2-A845-223865AC8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A9893A-28D3-C8F4-1AD9-C3D66272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A28EC-A976-45D9-095F-EC06972D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10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F71B0-632D-7F02-BD2B-5F8293B70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0FEC3-AC2B-0A95-3F04-44BC361B6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F50A4-7FBD-0282-7398-5F2183910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C9361-3718-ED5E-BD97-F1904EADF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66A7E-D28B-B40A-1956-41D9F111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19FD0-213A-95BA-1402-3AFC461E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2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A77C-6274-344D-B716-4B50E198F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79360B-C74B-18FC-1BB3-2377B5B2E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B81A2-196D-CDC4-A353-3D054657D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72DE1-5BC9-AFE1-519F-87F9FA3E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CD67B-563D-9186-0B68-39397521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F8016-BE3A-16F6-E003-C81BB193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48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0F17-CAAF-F511-8DE9-9459ACAD6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1F2BCC-2603-5A93-74ED-1E8D228AA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EE88D-0F54-F958-6AC4-5F813EE74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C6B1B-1FD8-849F-7F9F-053774E7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C3E54-9428-CFCD-FA23-D0D67DED4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21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9B725-D2F6-BB9B-4FAA-2BDCCC788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4B79C-40C7-9F87-9D95-0AA379DD2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4A3A3-695B-4993-6E42-467EDC9A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2C9C8-3CAB-E653-49B3-A5104CFD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9A5D6-F2D5-701E-C8E6-E58D6B03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3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BEC9DD-B2C7-46DD-2917-752FB8B53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FB2C4-02BD-BDDF-937F-62AF69687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CF095-A2EE-8F2C-52E7-F88644F23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41CFB-E705-4A4C-9CB4-0324CDE9699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72DE1-CDD3-37F9-4229-CB35CC3181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4DE03-EAF9-E634-67D0-52E220538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3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99E99-7538-8782-36FE-7549C1AB4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93751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Intelli-Credit Challenge</a:t>
            </a:r>
            <a:endParaRPr lang="en-US" dirty="0">
              <a:solidFill>
                <a:schemeClr val="accent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ABB918-C3C6-FDB6-D361-494A651FF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61962" y="3089125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Theme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</a:rPr>
              <a:t>Next-Gen Corporate Credit Appraisal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5874E-6811-3467-4FD1-2DD7AA164049}"/>
              </a:ext>
            </a:extLst>
          </p:cNvPr>
          <p:cNvSpPr txBox="1"/>
          <p:nvPr/>
        </p:nvSpPr>
        <p:spPr>
          <a:xfrm>
            <a:off x="1257300" y="3686173"/>
            <a:ext cx="4838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Team Name : </a:t>
            </a:r>
            <a:r>
              <a:rPr lang="en-US" sz="2400" dirty="0" err="1">
                <a:latin typeface="Baskerville Old Face" panose="02020602080505020303" pitchFamily="18" charset="0"/>
              </a:rPr>
              <a:t>ByteForce</a:t>
            </a:r>
            <a:endParaRPr lang="en-US" sz="2400" dirty="0">
              <a:latin typeface="Baskerville Old Face" panose="02020602080505020303" pitchFamily="18" charset="0"/>
            </a:endParaRP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2"/>
                </a:solidFill>
              </a:rPr>
              <a:t>Team Members : </a:t>
            </a:r>
            <a:r>
              <a:rPr lang="en-US" sz="2400" dirty="0">
                <a:latin typeface="Baskerville Old Face" panose="02020602080505020303" pitchFamily="18" charset="0"/>
              </a:rPr>
              <a:t>Deepak , Sharan</a:t>
            </a:r>
          </a:p>
        </p:txBody>
      </p:sp>
    </p:spTree>
    <p:extLst>
      <p:ext uri="{BB962C8B-B14F-4D97-AF65-F5344CB8AC3E}">
        <p14:creationId xmlns:p14="http://schemas.microsoft.com/office/powerpoint/2010/main" val="2555939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D7C-09C9-7FE2-5559-F10E40F1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64" y="138690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Problem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FEB91-3062-73B9-5A80-42D140033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163" y="142945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Baskerville Old Face" panose="02020602080505020303" pitchFamily="18" charset="0"/>
              </a:rPr>
              <a:t>Current Manuel Process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7629969-92B1-5D52-4B04-C12A2F20DB43}"/>
              </a:ext>
            </a:extLst>
          </p:cNvPr>
          <p:cNvSpPr/>
          <p:nvPr/>
        </p:nvSpPr>
        <p:spPr>
          <a:xfrm>
            <a:off x="6096000" y="2066703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D9755-7924-B61C-8147-5624C44BB041}"/>
              </a:ext>
            </a:extLst>
          </p:cNvPr>
          <p:cNvSpPr txBox="1"/>
          <p:nvPr/>
        </p:nvSpPr>
        <p:spPr>
          <a:xfrm>
            <a:off x="7111004" y="2136648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Collect Documents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3EA162-D64C-8F01-3E37-31931EF82FB5}"/>
              </a:ext>
            </a:extLst>
          </p:cNvPr>
          <p:cNvSpPr/>
          <p:nvPr/>
        </p:nvSpPr>
        <p:spPr>
          <a:xfrm>
            <a:off x="6096000" y="2869996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D9C456-C68A-FD31-32D2-2FC23E02115C}"/>
              </a:ext>
            </a:extLst>
          </p:cNvPr>
          <p:cNvSpPr/>
          <p:nvPr/>
        </p:nvSpPr>
        <p:spPr>
          <a:xfrm>
            <a:off x="6096000" y="3673289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6CE2B8-E236-C233-CD28-875F13A3235D}"/>
              </a:ext>
            </a:extLst>
          </p:cNvPr>
          <p:cNvSpPr/>
          <p:nvPr/>
        </p:nvSpPr>
        <p:spPr>
          <a:xfrm>
            <a:off x="6096000" y="4471726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6BF5B8-A7E6-30A2-23B4-55A1B5CA2D8D}"/>
              </a:ext>
            </a:extLst>
          </p:cNvPr>
          <p:cNvSpPr/>
          <p:nvPr/>
        </p:nvSpPr>
        <p:spPr>
          <a:xfrm>
            <a:off x="6096000" y="5270163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A6D078-AD8E-5C2A-F33E-C41FFC3CA6DD}"/>
              </a:ext>
            </a:extLst>
          </p:cNvPr>
          <p:cNvSpPr txBox="1"/>
          <p:nvPr/>
        </p:nvSpPr>
        <p:spPr>
          <a:xfrm>
            <a:off x="7111005" y="2936320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Manuel PDF Reading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4F48D-BCEF-E648-04C1-18CB16398736}"/>
              </a:ext>
            </a:extLst>
          </p:cNvPr>
          <p:cNvSpPr txBox="1"/>
          <p:nvPr/>
        </p:nvSpPr>
        <p:spPr>
          <a:xfrm>
            <a:off x="7111004" y="3721426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Cross Verify Financials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0E7941-1244-99C8-1CA3-90DBCE0245A4}"/>
              </a:ext>
            </a:extLst>
          </p:cNvPr>
          <p:cNvSpPr txBox="1"/>
          <p:nvPr/>
        </p:nvSpPr>
        <p:spPr>
          <a:xfrm>
            <a:off x="7111004" y="4550020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Research news/Litigation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7AA68B-FB76-3060-7299-78F76F9E920C}"/>
              </a:ext>
            </a:extLst>
          </p:cNvPr>
          <p:cNvSpPr txBox="1"/>
          <p:nvPr/>
        </p:nvSpPr>
        <p:spPr>
          <a:xfrm>
            <a:off x="7111004" y="5378223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Write  CAM Memo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404B3A-3D77-2F6C-A5F6-24E016312E26}"/>
              </a:ext>
            </a:extLst>
          </p:cNvPr>
          <p:cNvSpPr/>
          <p:nvPr/>
        </p:nvSpPr>
        <p:spPr>
          <a:xfrm>
            <a:off x="10358437" y="2149343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1-5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A174E8-41B0-2C66-71F3-790942818CF9}"/>
              </a:ext>
            </a:extLst>
          </p:cNvPr>
          <p:cNvSpPr/>
          <p:nvPr/>
        </p:nvSpPr>
        <p:spPr>
          <a:xfrm>
            <a:off x="10358437" y="2929446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6-10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C9A90E-61B4-2FC0-175A-4DF28CE4EE5A}"/>
              </a:ext>
            </a:extLst>
          </p:cNvPr>
          <p:cNvSpPr/>
          <p:nvPr/>
        </p:nvSpPr>
        <p:spPr>
          <a:xfrm>
            <a:off x="10358437" y="3702580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11-16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4FD5AB-E315-FF6D-258F-95DC5CF7B476}"/>
              </a:ext>
            </a:extLst>
          </p:cNvPr>
          <p:cNvSpPr/>
          <p:nvPr/>
        </p:nvSpPr>
        <p:spPr>
          <a:xfrm>
            <a:off x="10358437" y="4543242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17-22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75F148-9921-A4F5-D3FB-0EC877BA1C36}"/>
              </a:ext>
            </a:extLst>
          </p:cNvPr>
          <p:cNvSpPr/>
          <p:nvPr/>
        </p:nvSpPr>
        <p:spPr>
          <a:xfrm>
            <a:off x="10358437" y="5324805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23-31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4D0022-FC27-A67E-18F0-D49905726567}"/>
              </a:ext>
            </a:extLst>
          </p:cNvPr>
          <p:cNvSpPr/>
          <p:nvPr/>
        </p:nvSpPr>
        <p:spPr>
          <a:xfrm>
            <a:off x="7790850" y="6130013"/>
            <a:ext cx="3515919" cy="48088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Total : 4-5 Weeks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931820-81D0-BFBD-B901-087CDAF6BA81}"/>
              </a:ext>
            </a:extLst>
          </p:cNvPr>
          <p:cNvSpPr/>
          <p:nvPr/>
        </p:nvSpPr>
        <p:spPr>
          <a:xfrm>
            <a:off x="538163" y="2114549"/>
            <a:ext cx="4710113" cy="43513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Graphic 28" descr="Warning with solid fill">
            <a:extLst>
              <a:ext uri="{FF2B5EF4-FFF2-40B4-BE49-F238E27FC236}">
                <a16:creationId xmlns:a16="http://schemas.microsoft.com/office/drawing/2014/main" id="{3E688AB7-B00C-6B51-2633-1D25B3DCF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037" y="2250925"/>
            <a:ext cx="685396" cy="685396"/>
          </a:xfrm>
          <a:prstGeom prst="rect">
            <a:avLst/>
          </a:prstGeom>
        </p:spPr>
      </p:pic>
      <p:pic>
        <p:nvPicPr>
          <p:cNvPr id="31" name="Graphic 30" descr="Newspaper with solid fill">
            <a:extLst>
              <a:ext uri="{FF2B5EF4-FFF2-40B4-BE49-F238E27FC236}">
                <a16:creationId xmlns:a16="http://schemas.microsoft.com/office/drawing/2014/main" id="{FE7AF8C1-6A92-68E2-1D6D-964F8BDCD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861" y="3252642"/>
            <a:ext cx="738028" cy="738028"/>
          </a:xfrm>
          <a:prstGeom prst="rect">
            <a:avLst/>
          </a:prstGeom>
        </p:spPr>
      </p:pic>
      <p:pic>
        <p:nvPicPr>
          <p:cNvPr id="33" name="Graphic 32" descr="Male profile with solid fill">
            <a:extLst>
              <a:ext uri="{FF2B5EF4-FFF2-40B4-BE49-F238E27FC236}">
                <a16:creationId xmlns:a16="http://schemas.microsoft.com/office/drawing/2014/main" id="{1E6F22CF-64A0-F3C2-93C1-DDF79FCD72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405" y="4340180"/>
            <a:ext cx="738028" cy="738028"/>
          </a:xfrm>
          <a:prstGeom prst="rect">
            <a:avLst/>
          </a:prstGeom>
        </p:spPr>
      </p:pic>
      <p:pic>
        <p:nvPicPr>
          <p:cNvPr id="34" name="Graphic 33" descr="Warning with solid fill">
            <a:extLst>
              <a:ext uri="{FF2B5EF4-FFF2-40B4-BE49-F238E27FC236}">
                <a16:creationId xmlns:a16="http://schemas.microsoft.com/office/drawing/2014/main" id="{D1D3725B-2E39-9D4A-CA1E-C5A4527A96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037" y="5324805"/>
            <a:ext cx="685396" cy="68539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79DE525-A8D2-A30C-E27E-478334AC7802}"/>
              </a:ext>
            </a:extLst>
          </p:cNvPr>
          <p:cNvSpPr txBox="1"/>
          <p:nvPr/>
        </p:nvSpPr>
        <p:spPr>
          <a:xfrm>
            <a:off x="1585347" y="2392231"/>
            <a:ext cx="20537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Data Paradox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532A48-FA00-1C37-F7ED-9FC60CD138FC}"/>
              </a:ext>
            </a:extLst>
          </p:cNvPr>
          <p:cNvSpPr txBox="1"/>
          <p:nvPr/>
        </p:nvSpPr>
        <p:spPr>
          <a:xfrm>
            <a:off x="1585347" y="3389795"/>
            <a:ext cx="609361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Fragmented Sources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CB07AA-AC4F-8E87-DC6F-3A4EC9775B6F}"/>
              </a:ext>
            </a:extLst>
          </p:cNvPr>
          <p:cNvSpPr txBox="1"/>
          <p:nvPr/>
        </p:nvSpPr>
        <p:spPr>
          <a:xfrm>
            <a:off x="1585347" y="4473076"/>
            <a:ext cx="609361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Human Bias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92205B-7CCD-C8BA-D127-99EBDA454646}"/>
              </a:ext>
            </a:extLst>
          </p:cNvPr>
          <p:cNvSpPr txBox="1"/>
          <p:nvPr/>
        </p:nvSpPr>
        <p:spPr>
          <a:xfrm>
            <a:off x="1585347" y="5392676"/>
            <a:ext cx="609361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Missed Early Warnings</a:t>
            </a:r>
          </a:p>
        </p:txBody>
      </p:sp>
    </p:spTree>
    <p:extLst>
      <p:ext uri="{BB962C8B-B14F-4D97-AF65-F5344CB8AC3E}">
        <p14:creationId xmlns:p14="http://schemas.microsoft.com/office/powerpoint/2010/main" val="1499723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8991-A47B-C3FF-C525-A3C847E7A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8BE71-DCD2-E502-A976-820E39C93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0262" y="2714626"/>
            <a:ext cx="45719" cy="11430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6D4002-5D0D-8A94-9ABA-ACB93DB7F33A}"/>
              </a:ext>
            </a:extLst>
          </p:cNvPr>
          <p:cNvSpPr/>
          <p:nvPr/>
        </p:nvSpPr>
        <p:spPr>
          <a:xfrm>
            <a:off x="328612" y="1843088"/>
            <a:ext cx="3543300" cy="37814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AC5A73-6A21-C07A-BB90-409C8E9E7A97}"/>
              </a:ext>
            </a:extLst>
          </p:cNvPr>
          <p:cNvSpPr/>
          <p:nvPr/>
        </p:nvSpPr>
        <p:spPr>
          <a:xfrm>
            <a:off x="4324350" y="1814512"/>
            <a:ext cx="3543300" cy="37814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40B462-2CF7-E97B-B123-A8F1262ECE2D}"/>
              </a:ext>
            </a:extLst>
          </p:cNvPr>
          <p:cNvSpPr/>
          <p:nvPr/>
        </p:nvSpPr>
        <p:spPr>
          <a:xfrm>
            <a:off x="8320090" y="1857375"/>
            <a:ext cx="3543300" cy="37814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C7094BA8-BD6B-149A-4A9C-6E7AC2B9D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9" y="2071688"/>
            <a:ext cx="757238" cy="757238"/>
          </a:xfrm>
          <a:prstGeom prst="rect">
            <a:avLst/>
          </a:prstGeom>
        </p:spPr>
      </p:pic>
      <p:pic>
        <p:nvPicPr>
          <p:cNvPr id="11" name="Graphic 10" descr="Magnifying glass with solid fill">
            <a:extLst>
              <a:ext uri="{FF2B5EF4-FFF2-40B4-BE49-F238E27FC236}">
                <a16:creationId xmlns:a16="http://schemas.microsoft.com/office/drawing/2014/main" id="{4CBB7423-D2DA-6CAC-4025-90082F5BE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3424" y="2057401"/>
            <a:ext cx="657225" cy="657225"/>
          </a:xfrm>
          <a:prstGeom prst="rect">
            <a:avLst/>
          </a:prstGeom>
        </p:spPr>
      </p:pic>
      <p:pic>
        <p:nvPicPr>
          <p:cNvPr id="12" name="Content Placeholder 12" descr="Newspaper with solid fill">
            <a:extLst>
              <a:ext uri="{FF2B5EF4-FFF2-40B4-BE49-F238E27FC236}">
                <a16:creationId xmlns:a16="http://schemas.microsoft.com/office/drawing/2014/main" id="{4541D52F-2FE8-28EA-A9F6-1799B08505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21078" y="1958177"/>
            <a:ext cx="827887" cy="8278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29D72F-9726-D7C4-E5D0-91BF8C03289C}"/>
              </a:ext>
            </a:extLst>
          </p:cNvPr>
          <p:cNvSpPr txBox="1"/>
          <p:nvPr/>
        </p:nvSpPr>
        <p:spPr>
          <a:xfrm>
            <a:off x="1181580" y="3038744"/>
            <a:ext cx="18373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Baskerville Old Face" panose="02020602080505020303" pitchFamily="18" charset="0"/>
              </a:rPr>
              <a:t>Data</a:t>
            </a:r>
          </a:p>
          <a:p>
            <a:pPr algn="ctr"/>
            <a:r>
              <a:rPr lang="en-US" sz="4000" dirty="0" err="1">
                <a:latin typeface="Baskerville Old Face" panose="02020602080505020303" pitchFamily="18" charset="0"/>
              </a:rPr>
              <a:t>Ingestor</a:t>
            </a:r>
            <a:endParaRPr lang="en-US" sz="4000" dirty="0">
              <a:latin typeface="Baskerville Old Face" panose="020206020805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AAAAD5-DFF9-B64A-36B2-BA671E9B6302}"/>
              </a:ext>
            </a:extLst>
          </p:cNvPr>
          <p:cNvSpPr txBox="1"/>
          <p:nvPr/>
        </p:nvSpPr>
        <p:spPr>
          <a:xfrm>
            <a:off x="4962765" y="2991388"/>
            <a:ext cx="22664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Baskerville Old Face" panose="02020602080505020303" pitchFamily="18" charset="0"/>
              </a:rPr>
              <a:t>Research</a:t>
            </a:r>
          </a:p>
          <a:p>
            <a:pPr algn="ctr"/>
            <a:r>
              <a:rPr lang="en-US" sz="4000" dirty="0">
                <a:latin typeface="Baskerville Old Face" panose="02020602080505020303" pitchFamily="18" charset="0"/>
              </a:rPr>
              <a:t>Agent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DA3A43-186D-5BFC-1019-A508191C08CC}"/>
              </a:ext>
            </a:extLst>
          </p:cNvPr>
          <p:cNvSpPr txBox="1"/>
          <p:nvPr/>
        </p:nvSpPr>
        <p:spPr>
          <a:xfrm>
            <a:off x="8057557" y="3086367"/>
            <a:ext cx="406836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00" dirty="0">
                <a:latin typeface="Baskerville Old Face" panose="02020602080505020303" pitchFamily="18" charset="0"/>
              </a:rPr>
              <a:t>Recommendation</a:t>
            </a:r>
          </a:p>
          <a:p>
            <a:pPr algn="ctr"/>
            <a:r>
              <a:rPr lang="en-US" sz="3700" dirty="0">
                <a:latin typeface="Baskerville Old Face" panose="02020602080505020303" pitchFamily="18" charset="0"/>
              </a:rPr>
              <a:t>Engine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36A5B1D7-AC23-F917-DBE5-6817C2097307}"/>
              </a:ext>
            </a:extLst>
          </p:cNvPr>
          <p:cNvSpPr/>
          <p:nvPr/>
        </p:nvSpPr>
        <p:spPr>
          <a:xfrm>
            <a:off x="3871912" y="3429000"/>
            <a:ext cx="452438" cy="42862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D787459-B180-3E55-1BD6-04A3363AFFB6}"/>
              </a:ext>
            </a:extLst>
          </p:cNvPr>
          <p:cNvSpPr/>
          <p:nvPr/>
        </p:nvSpPr>
        <p:spPr>
          <a:xfrm>
            <a:off x="7867650" y="3428999"/>
            <a:ext cx="452438" cy="42862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2712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6066-949D-96A4-892F-ECC42922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Ingestor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E3147-F4EF-3BDC-57CF-3D62A3208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24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CF85-B64F-6F76-4C19-820C8DF1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49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Our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34E804-CD77-6E01-6B16-78236B793DF5}"/>
              </a:ext>
            </a:extLst>
          </p:cNvPr>
          <p:cNvSpPr/>
          <p:nvPr/>
        </p:nvSpPr>
        <p:spPr>
          <a:xfrm>
            <a:off x="8515353" y="1690688"/>
            <a:ext cx="3000375" cy="4692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F1845C-3712-A5B9-0B0D-DC1C2422158A}"/>
              </a:ext>
            </a:extLst>
          </p:cNvPr>
          <p:cNvSpPr/>
          <p:nvPr/>
        </p:nvSpPr>
        <p:spPr>
          <a:xfrm>
            <a:off x="4495801" y="1690688"/>
            <a:ext cx="3000375" cy="46926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126948-096B-8E76-C829-02EB3D68AC90}"/>
              </a:ext>
            </a:extLst>
          </p:cNvPr>
          <p:cNvSpPr/>
          <p:nvPr/>
        </p:nvSpPr>
        <p:spPr>
          <a:xfrm>
            <a:off x="476249" y="1690688"/>
            <a:ext cx="3000375" cy="46926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CECB0-0CBC-35DA-CCFC-A6C07EC6D8EE}"/>
              </a:ext>
            </a:extLst>
          </p:cNvPr>
          <p:cNvSpPr txBox="1"/>
          <p:nvPr/>
        </p:nvSpPr>
        <p:spPr>
          <a:xfrm>
            <a:off x="2865559" y="1738699"/>
            <a:ext cx="50526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C38635-258E-BE08-5A68-6FF1ECD2498A}"/>
              </a:ext>
            </a:extLst>
          </p:cNvPr>
          <p:cNvSpPr txBox="1"/>
          <p:nvPr/>
        </p:nvSpPr>
        <p:spPr>
          <a:xfrm>
            <a:off x="6879935" y="1738699"/>
            <a:ext cx="75055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CD9FC3-FAA6-3DC6-1A28-ABE8F14F7E71}"/>
              </a:ext>
            </a:extLst>
          </p:cNvPr>
          <p:cNvSpPr txBox="1"/>
          <p:nvPr/>
        </p:nvSpPr>
        <p:spPr>
          <a:xfrm>
            <a:off x="10876360" y="1705361"/>
            <a:ext cx="6393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03</a:t>
            </a:r>
          </a:p>
        </p:txBody>
      </p:sp>
      <p:pic>
        <p:nvPicPr>
          <p:cNvPr id="13" name="Content Placeholder 12" descr="Newspaper with solid fill">
            <a:extLst>
              <a:ext uri="{FF2B5EF4-FFF2-40B4-BE49-F238E27FC236}">
                <a16:creationId xmlns:a16="http://schemas.microsoft.com/office/drawing/2014/main" id="{09B028F8-630F-779E-0BAF-8F374FC13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9665" y="1738699"/>
            <a:ext cx="827887" cy="827887"/>
          </a:xfrm>
        </p:spPr>
      </p:pic>
      <p:pic>
        <p:nvPicPr>
          <p:cNvPr id="15" name="Graphic 14" descr="Magnifying glass with solid fill">
            <a:extLst>
              <a:ext uri="{FF2B5EF4-FFF2-40B4-BE49-F238E27FC236}">
                <a16:creationId xmlns:a16="http://schemas.microsoft.com/office/drawing/2014/main" id="{0D5361ED-27F3-6B05-1842-DB02A61A74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0079" y="1824029"/>
            <a:ext cx="657225" cy="657225"/>
          </a:xfrm>
          <a:prstGeom prst="rect">
            <a:avLst/>
          </a:prstGeom>
        </p:spPr>
      </p:pic>
      <p:pic>
        <p:nvPicPr>
          <p:cNvPr id="19" name="Graphic 18" descr="Database with solid fill">
            <a:extLst>
              <a:ext uri="{FF2B5EF4-FFF2-40B4-BE49-F238E27FC236}">
                <a16:creationId xmlns:a16="http://schemas.microsoft.com/office/drawing/2014/main" id="{5E57D751-4D5E-9CA7-A24F-0CAA46EB73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199" y="1774022"/>
            <a:ext cx="757238" cy="75723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679AF91-7EBF-C50D-ED5D-4FF40D9DD6F6}"/>
              </a:ext>
            </a:extLst>
          </p:cNvPr>
          <p:cNvSpPr txBox="1"/>
          <p:nvPr/>
        </p:nvSpPr>
        <p:spPr>
          <a:xfrm>
            <a:off x="476249" y="2759860"/>
            <a:ext cx="190148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Baskerville Old Face" panose="02020602080505020303" pitchFamily="18" charset="0"/>
              </a:rPr>
              <a:t>Data </a:t>
            </a:r>
            <a:r>
              <a:rPr lang="en-US" sz="2500" dirty="0" err="1">
                <a:latin typeface="Baskerville Old Face" panose="02020602080505020303" pitchFamily="18" charset="0"/>
              </a:rPr>
              <a:t>Ingestor</a:t>
            </a:r>
            <a:endParaRPr lang="en-US" sz="2500" dirty="0">
              <a:latin typeface="Baskerville Old Face" panose="020206020805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F06740-5ADD-8F5C-5303-9793F6C4193E}"/>
              </a:ext>
            </a:extLst>
          </p:cNvPr>
          <p:cNvSpPr txBox="1"/>
          <p:nvPr/>
        </p:nvSpPr>
        <p:spPr>
          <a:xfrm>
            <a:off x="4495801" y="2759860"/>
            <a:ext cx="226049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Baskerville Old Face" panose="02020602080505020303" pitchFamily="18" charset="0"/>
              </a:rPr>
              <a:t>Research Agent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086E01-58B7-9712-ACA9-F9A566EC9D0C}"/>
              </a:ext>
            </a:extLst>
          </p:cNvPr>
          <p:cNvSpPr txBox="1"/>
          <p:nvPr/>
        </p:nvSpPr>
        <p:spPr>
          <a:xfrm>
            <a:off x="8547498" y="2795186"/>
            <a:ext cx="316825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Recommendation Engine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4B437F-7F58-A93F-C523-7FCCD914F751}"/>
              </a:ext>
            </a:extLst>
          </p:cNvPr>
          <p:cNvSpPr txBox="1"/>
          <p:nvPr/>
        </p:nvSpPr>
        <p:spPr>
          <a:xfrm>
            <a:off x="469609" y="3284925"/>
            <a:ext cx="2901217" cy="2790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ell MT" panose="02020503060305020303" pitchFamily="18" charset="0"/>
              </a:rPr>
              <a:t>PDF Parsing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ell MT" panose="02020503060305020303" pitchFamily="18" charset="0"/>
              </a:rPr>
              <a:t>GST</a:t>
            </a:r>
            <a:r>
              <a:rPr lang="en-US" dirty="0">
                <a:latin typeface="Bell MT" panose="02020503060305020303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Bell MT" panose="02020503060305020303" pitchFamily="18" charset="0"/>
              </a:rPr>
              <a:t> </a:t>
            </a:r>
            <a:r>
              <a:rPr lang="en-US" dirty="0">
                <a:latin typeface="Bell MT" panose="02020503060305020303" pitchFamily="18" charset="0"/>
                <a:sym typeface="Wingdings" panose="05000000000000000000" pitchFamily="2" charset="2"/>
              </a:rPr>
              <a:t> Bank statements Cross check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ell MT" panose="02020503060305020303" pitchFamily="18" charset="0"/>
                <a:sym typeface="Wingdings" panose="05000000000000000000" pitchFamily="2" charset="2"/>
              </a:rPr>
              <a:t>Circular trading detection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ell MT" panose="02020503060305020303" pitchFamily="18" charset="0"/>
                <a:sym typeface="Wingdings" panose="05000000000000000000" pitchFamily="2" charset="2"/>
              </a:rPr>
              <a:t>Databricks style pipeline</a:t>
            </a:r>
            <a:endParaRPr lang="en-US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653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102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Rounded MT Bold</vt:lpstr>
      <vt:lpstr>Baskerville Old Face</vt:lpstr>
      <vt:lpstr>Bell MT</vt:lpstr>
      <vt:lpstr>Calibri</vt:lpstr>
      <vt:lpstr>Calibri Light</vt:lpstr>
      <vt:lpstr>Office Theme</vt:lpstr>
      <vt:lpstr>Intelli-Credit Challenge</vt:lpstr>
      <vt:lpstr>Problem Context</vt:lpstr>
      <vt:lpstr>Our Solution</vt:lpstr>
      <vt:lpstr>Data Ingestor</vt:lpstr>
      <vt:lpstr>Our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M</dc:creator>
  <cp:lastModifiedBy>Deepak M</cp:lastModifiedBy>
  <cp:revision>1</cp:revision>
  <dcterms:created xsi:type="dcterms:W3CDTF">2026-03-09T17:28:36Z</dcterms:created>
  <dcterms:modified xsi:type="dcterms:W3CDTF">2026-03-09T17:49:58Z</dcterms:modified>
</cp:coreProperties>
</file>